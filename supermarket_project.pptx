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71" r:id="rId15"/>
    <p:sldId id="272" r:id="rId16"/>
    <p:sldId id="269" r:id="rId17"/>
    <p:sldId id="273" r:id="rId18"/>
  </p:sldIdLst>
  <p:sldSz cx="11112500" cy="5778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21" d="100"/>
          <a:sy n="121" d="100"/>
        </p:scale>
        <p:origin x="55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F068AD-CD23-4AE3-B1CA-81FF278EBD0E}" type="doc">
      <dgm:prSet loTypeId="urn:microsoft.com/office/officeart/2016/7/layout/RepeatingBendingProcessNew" loCatId="process" qsTypeId="urn:microsoft.com/office/officeart/2005/8/quickstyle/simple1" qsCatId="simple" csTypeId="urn:microsoft.com/office/officeart/2005/8/colors/accent5_2" csCatId="accent5"/>
      <dgm:spPr/>
      <dgm:t>
        <a:bodyPr/>
        <a:lstStyle/>
        <a:p>
          <a:endParaRPr lang="en-US"/>
        </a:p>
      </dgm:t>
    </dgm:pt>
    <dgm:pt modelId="{6D7EF7F7-EE03-498E-8796-E6D1E258A7FD}">
      <dgm:prSet/>
      <dgm:spPr/>
      <dgm:t>
        <a:bodyPr/>
        <a:lstStyle/>
        <a:p>
          <a:r>
            <a:rPr lang="en-US" b="0" i="0" dirty="0"/>
            <a:t>Which place is the most suitable and popular for the supermarket? </a:t>
          </a:r>
          <a:endParaRPr lang="en-US" dirty="0"/>
        </a:p>
      </dgm:t>
    </dgm:pt>
    <dgm:pt modelId="{2F6F35FE-D13D-40B7-9D01-3C4380F1572B}" type="parTrans" cxnId="{2810EAA5-74C7-477A-82CD-5570A1A7CC4B}">
      <dgm:prSet/>
      <dgm:spPr/>
      <dgm:t>
        <a:bodyPr/>
        <a:lstStyle/>
        <a:p>
          <a:endParaRPr lang="en-US"/>
        </a:p>
      </dgm:t>
    </dgm:pt>
    <dgm:pt modelId="{2578275D-ACCC-48DD-B968-8E05240044A4}" type="sibTrans" cxnId="{2810EAA5-74C7-477A-82CD-5570A1A7CC4B}">
      <dgm:prSet/>
      <dgm:spPr/>
      <dgm:t>
        <a:bodyPr/>
        <a:lstStyle/>
        <a:p>
          <a:endParaRPr lang="en-US"/>
        </a:p>
      </dgm:t>
    </dgm:pt>
    <dgm:pt modelId="{6312471E-A491-4D48-AC5F-4AF6A887925B}">
      <dgm:prSet/>
      <dgm:spPr/>
      <dgm:t>
        <a:bodyPr/>
        <a:lstStyle/>
        <a:p>
          <a:r>
            <a:rPr lang="en-US" b="0" i="0"/>
            <a:t>What type of supermarket should be provided ? </a:t>
          </a:r>
          <a:endParaRPr lang="en-US"/>
        </a:p>
      </dgm:t>
    </dgm:pt>
    <dgm:pt modelId="{045C44E5-CDE9-4FF0-AD68-234E2A9D2CF5}" type="parTrans" cxnId="{C908EE15-12FC-4476-A86B-54A4A401D71D}">
      <dgm:prSet/>
      <dgm:spPr/>
      <dgm:t>
        <a:bodyPr/>
        <a:lstStyle/>
        <a:p>
          <a:endParaRPr lang="en-US"/>
        </a:p>
      </dgm:t>
    </dgm:pt>
    <dgm:pt modelId="{7540EF6B-7EC8-4C64-9589-E3EAE8461AAA}" type="sibTrans" cxnId="{C908EE15-12FC-4476-A86B-54A4A401D71D}">
      <dgm:prSet/>
      <dgm:spPr/>
      <dgm:t>
        <a:bodyPr/>
        <a:lstStyle/>
        <a:p>
          <a:endParaRPr lang="en-US"/>
        </a:p>
      </dgm:t>
    </dgm:pt>
    <dgm:pt modelId="{E11D9E3B-2893-46DE-846E-0E1671099639}">
      <dgm:prSet/>
      <dgm:spPr/>
      <dgm:t>
        <a:bodyPr/>
        <a:lstStyle/>
        <a:p>
          <a:r>
            <a:rPr lang="en-US" b="0" i="0"/>
            <a:t>What type is preferred by people in that area ? </a:t>
          </a:r>
          <a:endParaRPr lang="en-US"/>
        </a:p>
      </dgm:t>
    </dgm:pt>
    <dgm:pt modelId="{5EB15023-2EFF-4185-A627-08060D477858}" type="parTrans" cxnId="{EBF7C18F-3F64-4067-85B6-D675B4781907}">
      <dgm:prSet/>
      <dgm:spPr/>
      <dgm:t>
        <a:bodyPr/>
        <a:lstStyle/>
        <a:p>
          <a:endParaRPr lang="en-US"/>
        </a:p>
      </dgm:t>
    </dgm:pt>
    <dgm:pt modelId="{2B72D0BA-98E4-48DE-A0D9-98CABA126C95}" type="sibTrans" cxnId="{EBF7C18F-3F64-4067-85B6-D675B4781907}">
      <dgm:prSet/>
      <dgm:spPr/>
      <dgm:t>
        <a:bodyPr/>
        <a:lstStyle/>
        <a:p>
          <a:endParaRPr lang="en-US"/>
        </a:p>
      </dgm:t>
    </dgm:pt>
    <dgm:pt modelId="{3F62B3CF-7618-43CD-AA87-C247EAFB1898}">
      <dgm:prSet/>
      <dgm:spPr/>
      <dgm:t>
        <a:bodyPr/>
        <a:lstStyle/>
        <a:p>
          <a:r>
            <a:rPr lang="en-US" b="0" i="0"/>
            <a:t>What type of people live in that area ( students, company employees, etc ) ? </a:t>
          </a:r>
          <a:endParaRPr lang="en-US"/>
        </a:p>
      </dgm:t>
    </dgm:pt>
    <dgm:pt modelId="{01D236E1-1240-416C-9DCF-FD18F1626E05}" type="parTrans" cxnId="{A8AD70BB-44D1-4F69-B7D6-AD831D1D98D3}">
      <dgm:prSet/>
      <dgm:spPr/>
      <dgm:t>
        <a:bodyPr/>
        <a:lstStyle/>
        <a:p>
          <a:endParaRPr lang="en-US"/>
        </a:p>
      </dgm:t>
    </dgm:pt>
    <dgm:pt modelId="{B5983C78-6199-432A-B670-221F34BCF61E}" type="sibTrans" cxnId="{A8AD70BB-44D1-4F69-B7D6-AD831D1D98D3}">
      <dgm:prSet/>
      <dgm:spPr/>
      <dgm:t>
        <a:bodyPr/>
        <a:lstStyle/>
        <a:p>
          <a:endParaRPr lang="en-US"/>
        </a:p>
      </dgm:t>
    </dgm:pt>
    <dgm:pt modelId="{FD580D49-AC3E-4C31-BE0E-E0C30DFDAC7D}">
      <dgm:prSet/>
      <dgm:spPr/>
      <dgm:t>
        <a:bodyPr/>
        <a:lstStyle/>
        <a:p>
          <a:r>
            <a:rPr lang="en-US" b="0" i="0"/>
            <a:t>How many supermarkets are present in that area ? </a:t>
          </a:r>
          <a:endParaRPr lang="en-US"/>
        </a:p>
      </dgm:t>
    </dgm:pt>
    <dgm:pt modelId="{EFD55B43-9176-47D5-AF33-4A6B1FEB0740}" type="parTrans" cxnId="{8B71C7EA-5E85-492F-8D28-3634A72C2776}">
      <dgm:prSet/>
      <dgm:spPr/>
      <dgm:t>
        <a:bodyPr/>
        <a:lstStyle/>
        <a:p>
          <a:endParaRPr lang="en-US"/>
        </a:p>
      </dgm:t>
    </dgm:pt>
    <dgm:pt modelId="{7B521AA3-74EE-4860-BD5C-B3693582031B}" type="sibTrans" cxnId="{8B71C7EA-5E85-492F-8D28-3634A72C2776}">
      <dgm:prSet/>
      <dgm:spPr/>
      <dgm:t>
        <a:bodyPr/>
        <a:lstStyle/>
        <a:p>
          <a:endParaRPr lang="en-US"/>
        </a:p>
      </dgm:t>
    </dgm:pt>
    <dgm:pt modelId="{B1A856F6-BEC0-4B06-B1CC-907DB526FCA8}">
      <dgm:prSet/>
      <dgm:spPr/>
      <dgm:t>
        <a:bodyPr/>
        <a:lstStyle/>
        <a:p>
          <a:r>
            <a:rPr lang="en-US" b="0" i="0"/>
            <a:t>What other specialties should be provided to attract customers ?</a:t>
          </a:r>
          <a:endParaRPr lang="en-US"/>
        </a:p>
      </dgm:t>
    </dgm:pt>
    <dgm:pt modelId="{465C6A38-F914-4CFA-B219-8E264DED1156}" type="parTrans" cxnId="{E6E73606-4538-44FC-A143-384CBDE6D1C4}">
      <dgm:prSet/>
      <dgm:spPr/>
      <dgm:t>
        <a:bodyPr/>
        <a:lstStyle/>
        <a:p>
          <a:endParaRPr lang="en-US"/>
        </a:p>
      </dgm:t>
    </dgm:pt>
    <dgm:pt modelId="{22AF4D94-A214-44FB-9523-705218B15836}" type="sibTrans" cxnId="{E6E73606-4538-44FC-A143-384CBDE6D1C4}">
      <dgm:prSet/>
      <dgm:spPr/>
      <dgm:t>
        <a:bodyPr/>
        <a:lstStyle/>
        <a:p>
          <a:endParaRPr lang="en-US"/>
        </a:p>
      </dgm:t>
    </dgm:pt>
    <dgm:pt modelId="{1EC9F2BF-93FC-4ABA-B6D6-26A9ADFBD47A}" type="pres">
      <dgm:prSet presAssocID="{59F068AD-CD23-4AE3-B1CA-81FF278EBD0E}" presName="Name0" presStyleCnt="0">
        <dgm:presLayoutVars>
          <dgm:dir/>
          <dgm:resizeHandles val="exact"/>
        </dgm:presLayoutVars>
      </dgm:prSet>
      <dgm:spPr/>
    </dgm:pt>
    <dgm:pt modelId="{83F661D6-DBBA-4E59-A453-056F6AD7EC71}" type="pres">
      <dgm:prSet presAssocID="{6D7EF7F7-EE03-498E-8796-E6D1E258A7FD}" presName="node" presStyleLbl="node1" presStyleIdx="0" presStyleCnt="6">
        <dgm:presLayoutVars>
          <dgm:bulletEnabled val="1"/>
        </dgm:presLayoutVars>
      </dgm:prSet>
      <dgm:spPr/>
    </dgm:pt>
    <dgm:pt modelId="{6DFB70A6-68FD-4743-BCC1-26CCDA6B7B14}" type="pres">
      <dgm:prSet presAssocID="{2578275D-ACCC-48DD-B968-8E05240044A4}" presName="sibTrans" presStyleLbl="sibTrans1D1" presStyleIdx="0" presStyleCnt="5"/>
      <dgm:spPr/>
    </dgm:pt>
    <dgm:pt modelId="{96E93191-C61E-43E4-A2D5-B3EE68FEF0BD}" type="pres">
      <dgm:prSet presAssocID="{2578275D-ACCC-48DD-B968-8E05240044A4}" presName="connectorText" presStyleLbl="sibTrans1D1" presStyleIdx="0" presStyleCnt="5"/>
      <dgm:spPr/>
    </dgm:pt>
    <dgm:pt modelId="{D1E6C03A-7E24-48DF-943F-403BBC6C4C57}" type="pres">
      <dgm:prSet presAssocID="{6312471E-A491-4D48-AC5F-4AF6A887925B}" presName="node" presStyleLbl="node1" presStyleIdx="1" presStyleCnt="6">
        <dgm:presLayoutVars>
          <dgm:bulletEnabled val="1"/>
        </dgm:presLayoutVars>
      </dgm:prSet>
      <dgm:spPr/>
    </dgm:pt>
    <dgm:pt modelId="{D5C0FBAD-9E7F-43C0-B772-5D559FF96AAD}" type="pres">
      <dgm:prSet presAssocID="{7540EF6B-7EC8-4C64-9589-E3EAE8461AAA}" presName="sibTrans" presStyleLbl="sibTrans1D1" presStyleIdx="1" presStyleCnt="5"/>
      <dgm:spPr/>
    </dgm:pt>
    <dgm:pt modelId="{0B8266A1-9287-47C7-904C-C3A09186A389}" type="pres">
      <dgm:prSet presAssocID="{7540EF6B-7EC8-4C64-9589-E3EAE8461AAA}" presName="connectorText" presStyleLbl="sibTrans1D1" presStyleIdx="1" presStyleCnt="5"/>
      <dgm:spPr/>
    </dgm:pt>
    <dgm:pt modelId="{6A92F850-444F-462B-9F7D-A59A544F4185}" type="pres">
      <dgm:prSet presAssocID="{E11D9E3B-2893-46DE-846E-0E1671099639}" presName="node" presStyleLbl="node1" presStyleIdx="2" presStyleCnt="6">
        <dgm:presLayoutVars>
          <dgm:bulletEnabled val="1"/>
        </dgm:presLayoutVars>
      </dgm:prSet>
      <dgm:spPr/>
    </dgm:pt>
    <dgm:pt modelId="{DFB28ECE-B419-4979-ADC5-E196C0AA545F}" type="pres">
      <dgm:prSet presAssocID="{2B72D0BA-98E4-48DE-A0D9-98CABA126C95}" presName="sibTrans" presStyleLbl="sibTrans1D1" presStyleIdx="2" presStyleCnt="5"/>
      <dgm:spPr/>
    </dgm:pt>
    <dgm:pt modelId="{9A5476BD-D878-4AD4-B82A-776F2D11D91C}" type="pres">
      <dgm:prSet presAssocID="{2B72D0BA-98E4-48DE-A0D9-98CABA126C95}" presName="connectorText" presStyleLbl="sibTrans1D1" presStyleIdx="2" presStyleCnt="5"/>
      <dgm:spPr/>
    </dgm:pt>
    <dgm:pt modelId="{02A97B61-8D58-485E-9FE8-12054DE32F7F}" type="pres">
      <dgm:prSet presAssocID="{3F62B3CF-7618-43CD-AA87-C247EAFB1898}" presName="node" presStyleLbl="node1" presStyleIdx="3" presStyleCnt="6">
        <dgm:presLayoutVars>
          <dgm:bulletEnabled val="1"/>
        </dgm:presLayoutVars>
      </dgm:prSet>
      <dgm:spPr/>
    </dgm:pt>
    <dgm:pt modelId="{9BBA4C0E-8DD4-440B-AEF1-36A2659C48C5}" type="pres">
      <dgm:prSet presAssocID="{B5983C78-6199-432A-B670-221F34BCF61E}" presName="sibTrans" presStyleLbl="sibTrans1D1" presStyleIdx="3" presStyleCnt="5"/>
      <dgm:spPr/>
    </dgm:pt>
    <dgm:pt modelId="{95918511-D39C-483D-9578-50C5AF25C37F}" type="pres">
      <dgm:prSet presAssocID="{B5983C78-6199-432A-B670-221F34BCF61E}" presName="connectorText" presStyleLbl="sibTrans1D1" presStyleIdx="3" presStyleCnt="5"/>
      <dgm:spPr/>
    </dgm:pt>
    <dgm:pt modelId="{C65CA53A-775C-4F59-A160-B55A9156C428}" type="pres">
      <dgm:prSet presAssocID="{FD580D49-AC3E-4C31-BE0E-E0C30DFDAC7D}" presName="node" presStyleLbl="node1" presStyleIdx="4" presStyleCnt="6">
        <dgm:presLayoutVars>
          <dgm:bulletEnabled val="1"/>
        </dgm:presLayoutVars>
      </dgm:prSet>
      <dgm:spPr/>
    </dgm:pt>
    <dgm:pt modelId="{6809F11B-70F9-44BE-9309-91F8319D0E11}" type="pres">
      <dgm:prSet presAssocID="{7B521AA3-74EE-4860-BD5C-B3693582031B}" presName="sibTrans" presStyleLbl="sibTrans1D1" presStyleIdx="4" presStyleCnt="5"/>
      <dgm:spPr/>
    </dgm:pt>
    <dgm:pt modelId="{19E5D85E-A4D7-483A-ACCE-0B6D492BFB2A}" type="pres">
      <dgm:prSet presAssocID="{7B521AA3-74EE-4860-BD5C-B3693582031B}" presName="connectorText" presStyleLbl="sibTrans1D1" presStyleIdx="4" presStyleCnt="5"/>
      <dgm:spPr/>
    </dgm:pt>
    <dgm:pt modelId="{4EBDE94A-605C-4A0B-B8E2-04682F166EF1}" type="pres">
      <dgm:prSet presAssocID="{B1A856F6-BEC0-4B06-B1CC-907DB526FCA8}" presName="node" presStyleLbl="node1" presStyleIdx="5" presStyleCnt="6">
        <dgm:presLayoutVars>
          <dgm:bulletEnabled val="1"/>
        </dgm:presLayoutVars>
      </dgm:prSet>
      <dgm:spPr/>
    </dgm:pt>
  </dgm:ptLst>
  <dgm:cxnLst>
    <dgm:cxn modelId="{E6E73606-4538-44FC-A143-384CBDE6D1C4}" srcId="{59F068AD-CD23-4AE3-B1CA-81FF278EBD0E}" destId="{B1A856F6-BEC0-4B06-B1CC-907DB526FCA8}" srcOrd="5" destOrd="0" parTransId="{465C6A38-F914-4CFA-B219-8E264DED1156}" sibTransId="{22AF4D94-A214-44FB-9523-705218B15836}"/>
    <dgm:cxn modelId="{4DD9790E-B7A3-40F5-ABC4-B673EC8C10DF}" type="presOf" srcId="{7B521AA3-74EE-4860-BD5C-B3693582031B}" destId="{19E5D85E-A4D7-483A-ACCE-0B6D492BFB2A}" srcOrd="1" destOrd="0" presId="urn:microsoft.com/office/officeart/2016/7/layout/RepeatingBendingProcessNew"/>
    <dgm:cxn modelId="{C908EE15-12FC-4476-A86B-54A4A401D71D}" srcId="{59F068AD-CD23-4AE3-B1CA-81FF278EBD0E}" destId="{6312471E-A491-4D48-AC5F-4AF6A887925B}" srcOrd="1" destOrd="0" parTransId="{045C44E5-CDE9-4FF0-AD68-234E2A9D2CF5}" sibTransId="{7540EF6B-7EC8-4C64-9589-E3EAE8461AAA}"/>
    <dgm:cxn modelId="{D4536517-B46D-4C7E-A052-8BEDF39ACCB2}" type="presOf" srcId="{59F068AD-CD23-4AE3-B1CA-81FF278EBD0E}" destId="{1EC9F2BF-93FC-4ABA-B6D6-26A9ADFBD47A}" srcOrd="0" destOrd="0" presId="urn:microsoft.com/office/officeart/2016/7/layout/RepeatingBendingProcessNew"/>
    <dgm:cxn modelId="{DBBEAE1C-1F4E-4CF5-B05A-B42615B43E0C}" type="presOf" srcId="{2578275D-ACCC-48DD-B968-8E05240044A4}" destId="{96E93191-C61E-43E4-A2D5-B3EE68FEF0BD}" srcOrd="1" destOrd="0" presId="urn:microsoft.com/office/officeart/2016/7/layout/RepeatingBendingProcessNew"/>
    <dgm:cxn modelId="{CDD0C12E-FC7B-4CC5-879F-9B74929EBCE9}" type="presOf" srcId="{6D7EF7F7-EE03-498E-8796-E6D1E258A7FD}" destId="{83F661D6-DBBA-4E59-A453-056F6AD7EC71}" srcOrd="0" destOrd="0" presId="urn:microsoft.com/office/officeart/2016/7/layout/RepeatingBendingProcessNew"/>
    <dgm:cxn modelId="{9684F641-8058-4FDE-8995-2FD7C6DB81EA}" type="presOf" srcId="{2578275D-ACCC-48DD-B968-8E05240044A4}" destId="{6DFB70A6-68FD-4743-BCC1-26CCDA6B7B14}" srcOrd="0" destOrd="0" presId="urn:microsoft.com/office/officeart/2016/7/layout/RepeatingBendingProcessNew"/>
    <dgm:cxn modelId="{237FF761-8EDA-4234-8A08-1F7BA0316675}" type="presOf" srcId="{6312471E-A491-4D48-AC5F-4AF6A887925B}" destId="{D1E6C03A-7E24-48DF-943F-403BBC6C4C57}" srcOrd="0" destOrd="0" presId="urn:microsoft.com/office/officeart/2016/7/layout/RepeatingBendingProcessNew"/>
    <dgm:cxn modelId="{6E6D336D-7B9D-4C19-A9A2-7F2BBF1ACE56}" type="presOf" srcId="{B5983C78-6199-432A-B670-221F34BCF61E}" destId="{9BBA4C0E-8DD4-440B-AEF1-36A2659C48C5}" srcOrd="0" destOrd="0" presId="urn:microsoft.com/office/officeart/2016/7/layout/RepeatingBendingProcessNew"/>
    <dgm:cxn modelId="{3221B24E-BEA6-4C6F-808D-6628695E9F8F}" type="presOf" srcId="{B5983C78-6199-432A-B670-221F34BCF61E}" destId="{95918511-D39C-483D-9578-50C5AF25C37F}" srcOrd="1" destOrd="0" presId="urn:microsoft.com/office/officeart/2016/7/layout/RepeatingBendingProcessNew"/>
    <dgm:cxn modelId="{B1866977-0843-45CE-884A-06816EEE0B98}" type="presOf" srcId="{B1A856F6-BEC0-4B06-B1CC-907DB526FCA8}" destId="{4EBDE94A-605C-4A0B-B8E2-04682F166EF1}" srcOrd="0" destOrd="0" presId="urn:microsoft.com/office/officeart/2016/7/layout/RepeatingBendingProcessNew"/>
    <dgm:cxn modelId="{12FA335A-1D76-4C45-A212-814ACB579950}" type="presOf" srcId="{3F62B3CF-7618-43CD-AA87-C247EAFB1898}" destId="{02A97B61-8D58-485E-9FE8-12054DE32F7F}" srcOrd="0" destOrd="0" presId="urn:microsoft.com/office/officeart/2016/7/layout/RepeatingBendingProcessNew"/>
    <dgm:cxn modelId="{44395180-BD23-4A2F-A452-BA454F0AE449}" type="presOf" srcId="{7540EF6B-7EC8-4C64-9589-E3EAE8461AAA}" destId="{0B8266A1-9287-47C7-904C-C3A09186A389}" srcOrd="1" destOrd="0" presId="urn:microsoft.com/office/officeart/2016/7/layout/RepeatingBendingProcessNew"/>
    <dgm:cxn modelId="{EBF7C18F-3F64-4067-85B6-D675B4781907}" srcId="{59F068AD-CD23-4AE3-B1CA-81FF278EBD0E}" destId="{E11D9E3B-2893-46DE-846E-0E1671099639}" srcOrd="2" destOrd="0" parTransId="{5EB15023-2EFF-4185-A627-08060D477858}" sibTransId="{2B72D0BA-98E4-48DE-A0D9-98CABA126C95}"/>
    <dgm:cxn modelId="{DF20CC98-2748-46C7-B09C-F874F31AD516}" type="presOf" srcId="{7B521AA3-74EE-4860-BD5C-B3693582031B}" destId="{6809F11B-70F9-44BE-9309-91F8319D0E11}" srcOrd="0" destOrd="0" presId="urn:microsoft.com/office/officeart/2016/7/layout/RepeatingBendingProcessNew"/>
    <dgm:cxn modelId="{2810EAA5-74C7-477A-82CD-5570A1A7CC4B}" srcId="{59F068AD-CD23-4AE3-B1CA-81FF278EBD0E}" destId="{6D7EF7F7-EE03-498E-8796-E6D1E258A7FD}" srcOrd="0" destOrd="0" parTransId="{2F6F35FE-D13D-40B7-9D01-3C4380F1572B}" sibTransId="{2578275D-ACCC-48DD-B968-8E05240044A4}"/>
    <dgm:cxn modelId="{5DCEB3B9-90C3-465F-B865-05EF9D0DB3EF}" type="presOf" srcId="{FD580D49-AC3E-4C31-BE0E-E0C30DFDAC7D}" destId="{C65CA53A-775C-4F59-A160-B55A9156C428}" srcOrd="0" destOrd="0" presId="urn:microsoft.com/office/officeart/2016/7/layout/RepeatingBendingProcessNew"/>
    <dgm:cxn modelId="{A8AD70BB-44D1-4F69-B7D6-AD831D1D98D3}" srcId="{59F068AD-CD23-4AE3-B1CA-81FF278EBD0E}" destId="{3F62B3CF-7618-43CD-AA87-C247EAFB1898}" srcOrd="3" destOrd="0" parTransId="{01D236E1-1240-416C-9DCF-FD18F1626E05}" sibTransId="{B5983C78-6199-432A-B670-221F34BCF61E}"/>
    <dgm:cxn modelId="{87E80FC0-BA30-4C0F-88E2-86B21206A61E}" type="presOf" srcId="{E11D9E3B-2893-46DE-846E-0E1671099639}" destId="{6A92F850-444F-462B-9F7D-A59A544F4185}" srcOrd="0" destOrd="0" presId="urn:microsoft.com/office/officeart/2016/7/layout/RepeatingBendingProcessNew"/>
    <dgm:cxn modelId="{30B302C7-834D-4FD8-B2BD-3A8E5E3428FE}" type="presOf" srcId="{2B72D0BA-98E4-48DE-A0D9-98CABA126C95}" destId="{9A5476BD-D878-4AD4-B82A-776F2D11D91C}" srcOrd="1" destOrd="0" presId="urn:microsoft.com/office/officeart/2016/7/layout/RepeatingBendingProcessNew"/>
    <dgm:cxn modelId="{0903DFDE-75A0-4547-9D0B-B73DED1A4F39}" type="presOf" srcId="{2B72D0BA-98E4-48DE-A0D9-98CABA126C95}" destId="{DFB28ECE-B419-4979-ADC5-E196C0AA545F}" srcOrd="0" destOrd="0" presId="urn:microsoft.com/office/officeart/2016/7/layout/RepeatingBendingProcessNew"/>
    <dgm:cxn modelId="{8B71C7EA-5E85-492F-8D28-3634A72C2776}" srcId="{59F068AD-CD23-4AE3-B1CA-81FF278EBD0E}" destId="{FD580D49-AC3E-4C31-BE0E-E0C30DFDAC7D}" srcOrd="4" destOrd="0" parTransId="{EFD55B43-9176-47D5-AF33-4A6B1FEB0740}" sibTransId="{7B521AA3-74EE-4860-BD5C-B3693582031B}"/>
    <dgm:cxn modelId="{A4569EF4-7A94-4640-96D2-1B7D7B902975}" type="presOf" srcId="{7540EF6B-7EC8-4C64-9589-E3EAE8461AAA}" destId="{D5C0FBAD-9E7F-43C0-B772-5D559FF96AAD}" srcOrd="0" destOrd="0" presId="urn:microsoft.com/office/officeart/2016/7/layout/RepeatingBendingProcessNew"/>
    <dgm:cxn modelId="{609C3081-03D7-4E0D-A840-373A3DBABB8B}" type="presParOf" srcId="{1EC9F2BF-93FC-4ABA-B6D6-26A9ADFBD47A}" destId="{83F661D6-DBBA-4E59-A453-056F6AD7EC71}" srcOrd="0" destOrd="0" presId="urn:microsoft.com/office/officeart/2016/7/layout/RepeatingBendingProcessNew"/>
    <dgm:cxn modelId="{40DE0844-6D13-423D-9302-C36C7552E286}" type="presParOf" srcId="{1EC9F2BF-93FC-4ABA-B6D6-26A9ADFBD47A}" destId="{6DFB70A6-68FD-4743-BCC1-26CCDA6B7B14}" srcOrd="1" destOrd="0" presId="urn:microsoft.com/office/officeart/2016/7/layout/RepeatingBendingProcessNew"/>
    <dgm:cxn modelId="{F778D25E-C9B8-446F-9AB2-EAB91C275A5F}" type="presParOf" srcId="{6DFB70A6-68FD-4743-BCC1-26CCDA6B7B14}" destId="{96E93191-C61E-43E4-A2D5-B3EE68FEF0BD}" srcOrd="0" destOrd="0" presId="urn:microsoft.com/office/officeart/2016/7/layout/RepeatingBendingProcessNew"/>
    <dgm:cxn modelId="{877FDAC5-22F6-456F-9295-9460EDEC97F4}" type="presParOf" srcId="{1EC9F2BF-93FC-4ABA-B6D6-26A9ADFBD47A}" destId="{D1E6C03A-7E24-48DF-943F-403BBC6C4C57}" srcOrd="2" destOrd="0" presId="urn:microsoft.com/office/officeart/2016/7/layout/RepeatingBendingProcessNew"/>
    <dgm:cxn modelId="{8479CC07-3E79-460B-87A0-8F967CB9E52B}" type="presParOf" srcId="{1EC9F2BF-93FC-4ABA-B6D6-26A9ADFBD47A}" destId="{D5C0FBAD-9E7F-43C0-B772-5D559FF96AAD}" srcOrd="3" destOrd="0" presId="urn:microsoft.com/office/officeart/2016/7/layout/RepeatingBendingProcessNew"/>
    <dgm:cxn modelId="{42463CD5-51CD-4F32-B44C-20EA72FC7F27}" type="presParOf" srcId="{D5C0FBAD-9E7F-43C0-B772-5D559FF96AAD}" destId="{0B8266A1-9287-47C7-904C-C3A09186A389}" srcOrd="0" destOrd="0" presId="urn:microsoft.com/office/officeart/2016/7/layout/RepeatingBendingProcessNew"/>
    <dgm:cxn modelId="{D4A2C1CC-E08B-4CB1-A885-40CDC82FEF4B}" type="presParOf" srcId="{1EC9F2BF-93FC-4ABA-B6D6-26A9ADFBD47A}" destId="{6A92F850-444F-462B-9F7D-A59A544F4185}" srcOrd="4" destOrd="0" presId="urn:microsoft.com/office/officeart/2016/7/layout/RepeatingBendingProcessNew"/>
    <dgm:cxn modelId="{F681D98C-D6A8-4805-B06B-54865A59CAB2}" type="presParOf" srcId="{1EC9F2BF-93FC-4ABA-B6D6-26A9ADFBD47A}" destId="{DFB28ECE-B419-4979-ADC5-E196C0AA545F}" srcOrd="5" destOrd="0" presId="urn:microsoft.com/office/officeart/2016/7/layout/RepeatingBendingProcessNew"/>
    <dgm:cxn modelId="{29F48E3D-0B66-4820-9A06-CEE67F25D4FB}" type="presParOf" srcId="{DFB28ECE-B419-4979-ADC5-E196C0AA545F}" destId="{9A5476BD-D878-4AD4-B82A-776F2D11D91C}" srcOrd="0" destOrd="0" presId="urn:microsoft.com/office/officeart/2016/7/layout/RepeatingBendingProcessNew"/>
    <dgm:cxn modelId="{5D17728B-1F01-43B3-A348-DE0E56692447}" type="presParOf" srcId="{1EC9F2BF-93FC-4ABA-B6D6-26A9ADFBD47A}" destId="{02A97B61-8D58-485E-9FE8-12054DE32F7F}" srcOrd="6" destOrd="0" presId="urn:microsoft.com/office/officeart/2016/7/layout/RepeatingBendingProcessNew"/>
    <dgm:cxn modelId="{8B2EDA0F-8C7C-48D6-86B6-DC4A87284935}" type="presParOf" srcId="{1EC9F2BF-93FC-4ABA-B6D6-26A9ADFBD47A}" destId="{9BBA4C0E-8DD4-440B-AEF1-36A2659C48C5}" srcOrd="7" destOrd="0" presId="urn:microsoft.com/office/officeart/2016/7/layout/RepeatingBendingProcessNew"/>
    <dgm:cxn modelId="{07935982-3037-431D-A8E1-A00DB1720057}" type="presParOf" srcId="{9BBA4C0E-8DD4-440B-AEF1-36A2659C48C5}" destId="{95918511-D39C-483D-9578-50C5AF25C37F}" srcOrd="0" destOrd="0" presId="urn:microsoft.com/office/officeart/2016/7/layout/RepeatingBendingProcessNew"/>
    <dgm:cxn modelId="{DEA3ECB7-E228-48A2-86B4-E7EB483BC554}" type="presParOf" srcId="{1EC9F2BF-93FC-4ABA-B6D6-26A9ADFBD47A}" destId="{C65CA53A-775C-4F59-A160-B55A9156C428}" srcOrd="8" destOrd="0" presId="urn:microsoft.com/office/officeart/2016/7/layout/RepeatingBendingProcessNew"/>
    <dgm:cxn modelId="{7EAB014E-C699-49C5-B5E2-860E46E3C429}" type="presParOf" srcId="{1EC9F2BF-93FC-4ABA-B6D6-26A9ADFBD47A}" destId="{6809F11B-70F9-44BE-9309-91F8319D0E11}" srcOrd="9" destOrd="0" presId="urn:microsoft.com/office/officeart/2016/7/layout/RepeatingBendingProcessNew"/>
    <dgm:cxn modelId="{74F00479-D728-4390-8F25-85696839A88E}" type="presParOf" srcId="{6809F11B-70F9-44BE-9309-91F8319D0E11}" destId="{19E5D85E-A4D7-483A-ACCE-0B6D492BFB2A}" srcOrd="0" destOrd="0" presId="urn:microsoft.com/office/officeart/2016/7/layout/RepeatingBendingProcessNew"/>
    <dgm:cxn modelId="{47936FF1-9B05-4A3F-B63B-6273DF38B63F}" type="presParOf" srcId="{1EC9F2BF-93FC-4ABA-B6D6-26A9ADFBD47A}" destId="{4EBDE94A-605C-4A0B-B8E2-04682F166EF1}"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AB40D7-E4B5-4BA5-8D8F-6BABB3A388C6}"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AC97188-AB82-4AF9-AD09-4C6F68DE27CC}">
      <dgm:prSet custT="1"/>
      <dgm:spPr/>
      <dgm:t>
        <a:bodyPr/>
        <a:lstStyle/>
        <a:p>
          <a:pPr>
            <a:lnSpc>
              <a:spcPct val="100000"/>
            </a:lnSpc>
          </a:pPr>
          <a:endParaRPr lang="en-US" sz="900" dirty="0"/>
        </a:p>
      </dgm:t>
    </dgm:pt>
    <dgm:pt modelId="{9F1494FC-304F-480E-A6F9-0B36BE2CBC01}" type="parTrans" cxnId="{04055253-78C5-4CA9-8D92-71B1B69B89C6}">
      <dgm:prSet/>
      <dgm:spPr/>
      <dgm:t>
        <a:bodyPr/>
        <a:lstStyle/>
        <a:p>
          <a:endParaRPr lang="en-US"/>
        </a:p>
      </dgm:t>
    </dgm:pt>
    <dgm:pt modelId="{69C8E416-BE97-411C-A697-2C5B45A684F7}" type="sibTrans" cxnId="{04055253-78C5-4CA9-8D92-71B1B69B89C6}">
      <dgm:prSet/>
      <dgm:spPr/>
      <dgm:t>
        <a:bodyPr/>
        <a:lstStyle/>
        <a:p>
          <a:endParaRPr lang="en-US"/>
        </a:p>
      </dgm:t>
    </dgm:pt>
    <dgm:pt modelId="{EE610D3C-8743-4B94-A982-00BC875CE2EF}">
      <dgm:prSet custT="1"/>
      <dgm:spPr/>
      <dgm:t>
        <a:bodyPr/>
        <a:lstStyle/>
        <a:p>
          <a:pPr>
            <a:lnSpc>
              <a:spcPct val="100000"/>
            </a:lnSpc>
            <a:defRPr b="1"/>
          </a:pPr>
          <a:r>
            <a:rPr lang="en-US" sz="1000" b="0" i="0" dirty="0"/>
            <a:t>-I obtained the required information from various sources such as KNBS, census report websites, web scraping, open street data, </a:t>
          </a:r>
          <a:r>
            <a:rPr lang="en-US" sz="1000" b="0" i="0" dirty="0" err="1"/>
            <a:t>etc</a:t>
          </a:r>
          <a:endParaRPr lang="en-US" sz="1000" dirty="0"/>
        </a:p>
      </dgm:t>
    </dgm:pt>
    <dgm:pt modelId="{8390DAF0-C188-4F3A-99D7-952337509496}" type="parTrans" cxnId="{6E7D9F39-A155-4258-96AE-F321012890FF}">
      <dgm:prSet/>
      <dgm:spPr/>
      <dgm:t>
        <a:bodyPr/>
        <a:lstStyle/>
        <a:p>
          <a:endParaRPr lang="en-US"/>
        </a:p>
      </dgm:t>
    </dgm:pt>
    <dgm:pt modelId="{6F592743-FEF5-4408-9F7C-AECF62046A53}" type="sibTrans" cxnId="{6E7D9F39-A155-4258-96AE-F321012890FF}">
      <dgm:prSet/>
      <dgm:spPr/>
      <dgm:t>
        <a:bodyPr/>
        <a:lstStyle/>
        <a:p>
          <a:endParaRPr lang="en-US"/>
        </a:p>
      </dgm:t>
    </dgm:pt>
    <dgm:pt modelId="{C94B2FFB-DE23-4EDB-B8D9-58BB28CFE5E6}">
      <dgm:prSet custT="1"/>
      <dgm:spPr/>
      <dgm:t>
        <a:bodyPr/>
        <a:lstStyle/>
        <a:p>
          <a:pPr>
            <a:lnSpc>
              <a:spcPct val="100000"/>
            </a:lnSpc>
            <a:defRPr b="1"/>
          </a:pPr>
          <a:endParaRPr lang="en-US" sz="900" b="0" i="0" dirty="0"/>
        </a:p>
        <a:p>
          <a:pPr>
            <a:lnSpc>
              <a:spcPct val="100000"/>
            </a:lnSpc>
            <a:defRPr b="1"/>
          </a:pPr>
          <a:endParaRPr lang="en-US" sz="900" b="0" i="0" dirty="0"/>
        </a:p>
        <a:p>
          <a:pPr>
            <a:lnSpc>
              <a:spcPct val="100000"/>
            </a:lnSpc>
            <a:defRPr b="1"/>
          </a:pPr>
          <a:endParaRPr lang="en-US" sz="900" b="0" i="0" dirty="0"/>
        </a:p>
        <a:p>
          <a:pPr>
            <a:lnSpc>
              <a:spcPct val="100000"/>
            </a:lnSpc>
            <a:defRPr b="1"/>
          </a:pPr>
          <a:endParaRPr lang="en-US" sz="900" b="0" i="0" dirty="0"/>
        </a:p>
        <a:p>
          <a:pPr>
            <a:lnSpc>
              <a:spcPct val="100000"/>
            </a:lnSpc>
            <a:defRPr b="1"/>
          </a:pPr>
          <a:endParaRPr lang="en-US" sz="900" b="0" i="0" dirty="0"/>
        </a:p>
        <a:p>
          <a:pPr>
            <a:lnSpc>
              <a:spcPct val="100000"/>
            </a:lnSpc>
            <a:defRPr b="1"/>
          </a:pPr>
          <a:r>
            <a:rPr lang="en-US" sz="1000" b="1" i="0" dirty="0"/>
            <a:t>To open a new store, the following information would be required </a:t>
          </a:r>
        </a:p>
        <a:p>
          <a:pPr>
            <a:lnSpc>
              <a:spcPct val="100000"/>
            </a:lnSpc>
            <a:defRPr b="1"/>
          </a:pPr>
          <a:r>
            <a:rPr lang="en-US" sz="1000" b="0" i="0" dirty="0"/>
            <a:t>-Accurate latitude and longitude coordinates are necessary to precisely pinpoint the location of interest</a:t>
          </a:r>
          <a:endParaRPr lang="en-US" sz="1000" dirty="0"/>
        </a:p>
        <a:p>
          <a:pPr>
            <a:lnSpc>
              <a:spcPct val="100000"/>
            </a:lnSpc>
            <a:defRPr b="1"/>
          </a:pPr>
          <a:r>
            <a:rPr lang="en-US" sz="1000" b="0" i="0" dirty="0"/>
            <a:t>-The population of the neighborhood is gathered to understand the potential customer base and market size</a:t>
          </a:r>
          <a:endParaRPr lang="en-US" sz="1000" dirty="0"/>
        </a:p>
        <a:p>
          <a:pPr>
            <a:lnSpc>
              <a:spcPct val="100000"/>
            </a:lnSpc>
            <a:defRPr b="1"/>
          </a:pPr>
          <a:r>
            <a:rPr lang="en-US" sz="1000" b="0" i="0" dirty="0"/>
            <a:t>-Demographic information: Information regarding the type of people residing in each neighborhood is collected. This includes factors such as age groups, occupation types (students, employees), Average income and other relevant demographic characteristics</a:t>
          </a:r>
          <a:endParaRPr lang="en-US" sz="1000" dirty="0"/>
        </a:p>
        <a:p>
          <a:pPr>
            <a:lnSpc>
              <a:spcPct val="100000"/>
            </a:lnSpc>
            <a:defRPr b="1"/>
          </a:pPr>
          <a:r>
            <a:rPr lang="en-US" sz="1000" b="0" i="0" dirty="0"/>
            <a:t>-The preference of people towards a certain type of food which would help in determining the type of food that will resonate with the target audience</a:t>
          </a:r>
          <a:endParaRPr lang="en-US" sz="1000" dirty="0"/>
        </a:p>
        <a:p>
          <a:pPr>
            <a:lnSpc>
              <a:spcPct val="100000"/>
            </a:lnSpc>
            <a:defRPr b="1"/>
          </a:pPr>
          <a:r>
            <a:rPr lang="en-US" sz="1000" b="0" i="0" dirty="0"/>
            <a:t>-Other service details such as transport, taxi, etc. </a:t>
          </a:r>
          <a:endParaRPr lang="en-US" sz="1000" dirty="0"/>
        </a:p>
        <a:p>
          <a:pPr>
            <a:lnSpc>
              <a:spcPct val="100000"/>
            </a:lnSpc>
            <a:defRPr b="1"/>
          </a:pPr>
          <a:r>
            <a:rPr lang="en-US" sz="1000" b="0" i="0" dirty="0"/>
            <a:t>-Competitors in the neighborhood</a:t>
          </a:r>
          <a:endParaRPr lang="en-US" sz="1000" dirty="0"/>
        </a:p>
      </dgm:t>
    </dgm:pt>
    <dgm:pt modelId="{A95F2AF1-CEBF-4E56-8F8F-84C5F73FD7CD}" type="sibTrans" cxnId="{620104F1-9F20-4BDC-9F53-FAB3F944C311}">
      <dgm:prSet/>
      <dgm:spPr/>
      <dgm:t>
        <a:bodyPr/>
        <a:lstStyle/>
        <a:p>
          <a:endParaRPr lang="en-US"/>
        </a:p>
      </dgm:t>
    </dgm:pt>
    <dgm:pt modelId="{9E2A520E-7844-4902-B56F-6DB2A36DEC06}" type="parTrans" cxnId="{620104F1-9F20-4BDC-9F53-FAB3F944C311}">
      <dgm:prSet/>
      <dgm:spPr/>
      <dgm:t>
        <a:bodyPr/>
        <a:lstStyle/>
        <a:p>
          <a:endParaRPr lang="en-US"/>
        </a:p>
      </dgm:t>
    </dgm:pt>
    <dgm:pt modelId="{5DA65E39-D0F4-4F87-81D2-F3436BC637BC}" type="pres">
      <dgm:prSet presAssocID="{F2AB40D7-E4B5-4BA5-8D8F-6BABB3A388C6}" presName="root" presStyleCnt="0">
        <dgm:presLayoutVars>
          <dgm:dir/>
          <dgm:resizeHandles val="exact"/>
        </dgm:presLayoutVars>
      </dgm:prSet>
      <dgm:spPr/>
    </dgm:pt>
    <dgm:pt modelId="{47973EF8-615C-46F7-9F0C-3CC214C071D7}" type="pres">
      <dgm:prSet presAssocID="{C94B2FFB-DE23-4EDB-B8D9-58BB28CFE5E6}" presName="compNode" presStyleCnt="0"/>
      <dgm:spPr/>
    </dgm:pt>
    <dgm:pt modelId="{27DE7FFC-695C-449D-9B16-3778414BBFA5}" type="pres">
      <dgm:prSet presAssocID="{C94B2FFB-DE23-4EDB-B8D9-58BB28CFE5E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44BDEA72-D69B-45EE-A101-59B2D593BDC3}" type="pres">
      <dgm:prSet presAssocID="{C94B2FFB-DE23-4EDB-B8D9-58BB28CFE5E6}" presName="iconSpace" presStyleCnt="0"/>
      <dgm:spPr/>
    </dgm:pt>
    <dgm:pt modelId="{0E471F24-15E8-473F-B3C9-2C01174E54EB}" type="pres">
      <dgm:prSet presAssocID="{C94B2FFB-DE23-4EDB-B8D9-58BB28CFE5E6}" presName="parTx" presStyleLbl="revTx" presStyleIdx="0" presStyleCnt="4" custLinFactNeighborX="1042" custLinFactNeighborY="-46266">
        <dgm:presLayoutVars>
          <dgm:chMax val="0"/>
          <dgm:chPref val="0"/>
        </dgm:presLayoutVars>
      </dgm:prSet>
      <dgm:spPr/>
    </dgm:pt>
    <dgm:pt modelId="{CAE14C90-6992-4FFA-BACC-5C4583FDDD90}" type="pres">
      <dgm:prSet presAssocID="{C94B2FFB-DE23-4EDB-B8D9-58BB28CFE5E6}" presName="txSpace" presStyleCnt="0"/>
      <dgm:spPr/>
    </dgm:pt>
    <dgm:pt modelId="{48C473AA-029C-41A5-B00C-174F2429CBE8}" type="pres">
      <dgm:prSet presAssocID="{C94B2FFB-DE23-4EDB-B8D9-58BB28CFE5E6}" presName="desTx" presStyleLbl="revTx" presStyleIdx="1" presStyleCnt="4">
        <dgm:presLayoutVars/>
      </dgm:prSet>
      <dgm:spPr/>
    </dgm:pt>
    <dgm:pt modelId="{6D4E67CC-AB23-4A51-89C9-E6783A460C78}" type="pres">
      <dgm:prSet presAssocID="{A95F2AF1-CEBF-4E56-8F8F-84C5F73FD7CD}" presName="sibTrans" presStyleCnt="0"/>
      <dgm:spPr/>
    </dgm:pt>
    <dgm:pt modelId="{43943ED5-5036-49BD-B9D0-762A7F325132}" type="pres">
      <dgm:prSet presAssocID="{EE610D3C-8743-4B94-A982-00BC875CE2EF}" presName="compNode" presStyleCnt="0"/>
      <dgm:spPr/>
    </dgm:pt>
    <dgm:pt modelId="{9706557B-4A96-4E32-9039-EEDA24858049}" type="pres">
      <dgm:prSet presAssocID="{EE610D3C-8743-4B94-A982-00BC875CE2E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26755F01-D97E-4301-AC80-4196C22B604D}" type="pres">
      <dgm:prSet presAssocID="{EE610D3C-8743-4B94-A982-00BC875CE2EF}" presName="iconSpace" presStyleCnt="0"/>
      <dgm:spPr/>
    </dgm:pt>
    <dgm:pt modelId="{34B43D4C-C605-48C7-AD60-781C89D5ED66}" type="pres">
      <dgm:prSet presAssocID="{EE610D3C-8743-4B94-A982-00BC875CE2EF}" presName="parTx" presStyleLbl="revTx" presStyleIdx="2" presStyleCnt="4">
        <dgm:presLayoutVars>
          <dgm:chMax val="0"/>
          <dgm:chPref val="0"/>
        </dgm:presLayoutVars>
      </dgm:prSet>
      <dgm:spPr/>
    </dgm:pt>
    <dgm:pt modelId="{69DDE855-5DED-4B24-8733-F487288C4633}" type="pres">
      <dgm:prSet presAssocID="{EE610D3C-8743-4B94-A982-00BC875CE2EF}" presName="txSpace" presStyleCnt="0"/>
      <dgm:spPr/>
    </dgm:pt>
    <dgm:pt modelId="{22E47B0B-964D-40D7-B62C-438949FAED00}" type="pres">
      <dgm:prSet presAssocID="{EE610D3C-8743-4B94-A982-00BC875CE2EF}" presName="desTx" presStyleLbl="revTx" presStyleIdx="3" presStyleCnt="4">
        <dgm:presLayoutVars/>
      </dgm:prSet>
      <dgm:spPr/>
    </dgm:pt>
  </dgm:ptLst>
  <dgm:cxnLst>
    <dgm:cxn modelId="{DDF4E900-71BA-41B9-8AA4-5BB88D798F3A}" type="presOf" srcId="{F2AB40D7-E4B5-4BA5-8D8F-6BABB3A388C6}" destId="{5DA65E39-D0F4-4F87-81D2-F3436BC637BC}" srcOrd="0" destOrd="0" presId="urn:microsoft.com/office/officeart/2018/2/layout/IconLabelDescriptionList"/>
    <dgm:cxn modelId="{4F80831D-F4FC-4AFA-B6CE-47296BB23722}" type="presOf" srcId="{5AC97188-AB82-4AF9-AD09-4C6F68DE27CC}" destId="{48C473AA-029C-41A5-B00C-174F2429CBE8}" srcOrd="0" destOrd="0" presId="urn:microsoft.com/office/officeart/2018/2/layout/IconLabelDescriptionList"/>
    <dgm:cxn modelId="{6E7D9F39-A155-4258-96AE-F321012890FF}" srcId="{F2AB40D7-E4B5-4BA5-8D8F-6BABB3A388C6}" destId="{EE610D3C-8743-4B94-A982-00BC875CE2EF}" srcOrd="1" destOrd="0" parTransId="{8390DAF0-C188-4F3A-99D7-952337509496}" sibTransId="{6F592743-FEF5-4408-9F7C-AECF62046A53}"/>
    <dgm:cxn modelId="{EC7B1F4E-1338-4518-AFE8-22B9880E7C33}" type="presOf" srcId="{C94B2FFB-DE23-4EDB-B8D9-58BB28CFE5E6}" destId="{0E471F24-15E8-473F-B3C9-2C01174E54EB}" srcOrd="0" destOrd="0" presId="urn:microsoft.com/office/officeart/2018/2/layout/IconLabelDescriptionList"/>
    <dgm:cxn modelId="{04055253-78C5-4CA9-8D92-71B1B69B89C6}" srcId="{C94B2FFB-DE23-4EDB-B8D9-58BB28CFE5E6}" destId="{5AC97188-AB82-4AF9-AD09-4C6F68DE27CC}" srcOrd="0" destOrd="0" parTransId="{9F1494FC-304F-480E-A6F9-0B36BE2CBC01}" sibTransId="{69C8E416-BE97-411C-A697-2C5B45A684F7}"/>
    <dgm:cxn modelId="{9B23EF91-AC49-44ED-ABA0-3FDBB4222D03}" type="presOf" srcId="{EE610D3C-8743-4B94-A982-00BC875CE2EF}" destId="{34B43D4C-C605-48C7-AD60-781C89D5ED66}" srcOrd="0" destOrd="0" presId="urn:microsoft.com/office/officeart/2018/2/layout/IconLabelDescriptionList"/>
    <dgm:cxn modelId="{620104F1-9F20-4BDC-9F53-FAB3F944C311}" srcId="{F2AB40D7-E4B5-4BA5-8D8F-6BABB3A388C6}" destId="{C94B2FFB-DE23-4EDB-B8D9-58BB28CFE5E6}" srcOrd="0" destOrd="0" parTransId="{9E2A520E-7844-4902-B56F-6DB2A36DEC06}" sibTransId="{A95F2AF1-CEBF-4E56-8F8F-84C5F73FD7CD}"/>
    <dgm:cxn modelId="{9A50611C-7A13-427C-A535-BC88925DD545}" type="presParOf" srcId="{5DA65E39-D0F4-4F87-81D2-F3436BC637BC}" destId="{47973EF8-615C-46F7-9F0C-3CC214C071D7}" srcOrd="0" destOrd="0" presId="urn:microsoft.com/office/officeart/2018/2/layout/IconLabelDescriptionList"/>
    <dgm:cxn modelId="{EF77B17C-F4E3-4586-8E6F-36932B96A634}" type="presParOf" srcId="{47973EF8-615C-46F7-9F0C-3CC214C071D7}" destId="{27DE7FFC-695C-449D-9B16-3778414BBFA5}" srcOrd="0" destOrd="0" presId="urn:microsoft.com/office/officeart/2018/2/layout/IconLabelDescriptionList"/>
    <dgm:cxn modelId="{48016D47-B645-449D-8C90-56042A36D564}" type="presParOf" srcId="{47973EF8-615C-46F7-9F0C-3CC214C071D7}" destId="{44BDEA72-D69B-45EE-A101-59B2D593BDC3}" srcOrd="1" destOrd="0" presId="urn:microsoft.com/office/officeart/2018/2/layout/IconLabelDescriptionList"/>
    <dgm:cxn modelId="{74216D43-7B52-4C97-8C76-539754EDBDC3}" type="presParOf" srcId="{47973EF8-615C-46F7-9F0C-3CC214C071D7}" destId="{0E471F24-15E8-473F-B3C9-2C01174E54EB}" srcOrd="2" destOrd="0" presId="urn:microsoft.com/office/officeart/2018/2/layout/IconLabelDescriptionList"/>
    <dgm:cxn modelId="{9B2E00B0-C6D1-44A6-92F4-C20AD4615ADC}" type="presParOf" srcId="{47973EF8-615C-46F7-9F0C-3CC214C071D7}" destId="{CAE14C90-6992-4FFA-BACC-5C4583FDDD90}" srcOrd="3" destOrd="0" presId="urn:microsoft.com/office/officeart/2018/2/layout/IconLabelDescriptionList"/>
    <dgm:cxn modelId="{45EE1569-11B8-4031-8EAB-3DA82467E1C8}" type="presParOf" srcId="{47973EF8-615C-46F7-9F0C-3CC214C071D7}" destId="{48C473AA-029C-41A5-B00C-174F2429CBE8}" srcOrd="4" destOrd="0" presId="urn:microsoft.com/office/officeart/2018/2/layout/IconLabelDescriptionList"/>
    <dgm:cxn modelId="{B55D6E61-6C6B-4D08-B3CA-5DA3A53B098D}" type="presParOf" srcId="{5DA65E39-D0F4-4F87-81D2-F3436BC637BC}" destId="{6D4E67CC-AB23-4A51-89C9-E6783A460C78}" srcOrd="1" destOrd="0" presId="urn:microsoft.com/office/officeart/2018/2/layout/IconLabelDescriptionList"/>
    <dgm:cxn modelId="{DF94A3D5-7D43-48DA-9A7A-3156EFDC6142}" type="presParOf" srcId="{5DA65E39-D0F4-4F87-81D2-F3436BC637BC}" destId="{43943ED5-5036-49BD-B9D0-762A7F325132}" srcOrd="2" destOrd="0" presId="urn:microsoft.com/office/officeart/2018/2/layout/IconLabelDescriptionList"/>
    <dgm:cxn modelId="{29422F8D-5DE0-4349-8107-E36EAEE44276}" type="presParOf" srcId="{43943ED5-5036-49BD-B9D0-762A7F325132}" destId="{9706557B-4A96-4E32-9039-EEDA24858049}" srcOrd="0" destOrd="0" presId="urn:microsoft.com/office/officeart/2018/2/layout/IconLabelDescriptionList"/>
    <dgm:cxn modelId="{A5557A91-966B-4FDE-91AB-3D88B50C6DF3}" type="presParOf" srcId="{43943ED5-5036-49BD-B9D0-762A7F325132}" destId="{26755F01-D97E-4301-AC80-4196C22B604D}" srcOrd="1" destOrd="0" presId="urn:microsoft.com/office/officeart/2018/2/layout/IconLabelDescriptionList"/>
    <dgm:cxn modelId="{35E0DB9C-24F9-4995-8491-FE4F6B25C9FB}" type="presParOf" srcId="{43943ED5-5036-49BD-B9D0-762A7F325132}" destId="{34B43D4C-C605-48C7-AD60-781C89D5ED66}" srcOrd="2" destOrd="0" presId="urn:microsoft.com/office/officeart/2018/2/layout/IconLabelDescriptionList"/>
    <dgm:cxn modelId="{16EEEE04-7AA2-454F-B586-96F2BD7C54E9}" type="presParOf" srcId="{43943ED5-5036-49BD-B9D0-762A7F325132}" destId="{69DDE855-5DED-4B24-8733-F487288C4633}" srcOrd="3" destOrd="0" presId="urn:microsoft.com/office/officeart/2018/2/layout/IconLabelDescriptionList"/>
    <dgm:cxn modelId="{6AE1CBB4-9C91-4BA4-92DD-DE7792DDCAB2}" type="presParOf" srcId="{43943ED5-5036-49BD-B9D0-762A7F325132}" destId="{22E47B0B-964D-40D7-B62C-438949FAED0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FB70A6-68FD-4743-BCC1-26CCDA6B7B14}">
      <dsp:nvSpPr>
        <dsp:cNvPr id="0" name=""/>
        <dsp:cNvSpPr/>
      </dsp:nvSpPr>
      <dsp:spPr>
        <a:xfrm>
          <a:off x="2166682" y="556416"/>
          <a:ext cx="430548" cy="91440"/>
        </a:xfrm>
        <a:custGeom>
          <a:avLst/>
          <a:gdLst/>
          <a:ahLst/>
          <a:cxnLst/>
          <a:rect l="0" t="0" r="0" b="0"/>
          <a:pathLst>
            <a:path>
              <a:moveTo>
                <a:pt x="0" y="45720"/>
              </a:moveTo>
              <a:lnTo>
                <a:pt x="430548"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70427" y="599831"/>
        <a:ext cx="23057" cy="4611"/>
      </dsp:txXfrm>
    </dsp:sp>
    <dsp:sp modelId="{83F661D6-DBBA-4E59-A453-056F6AD7EC71}">
      <dsp:nvSpPr>
        <dsp:cNvPr id="0" name=""/>
        <dsp:cNvSpPr/>
      </dsp:nvSpPr>
      <dsp:spPr>
        <a:xfrm>
          <a:off x="163487" y="638"/>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dirty="0"/>
            <a:t>Which place is the most suitable and popular for the supermarket? </a:t>
          </a:r>
          <a:endParaRPr lang="en-US" sz="1400" kern="1200" dirty="0"/>
        </a:p>
      </dsp:txBody>
      <dsp:txXfrm>
        <a:off x="163487" y="638"/>
        <a:ext cx="2004994" cy="1202996"/>
      </dsp:txXfrm>
    </dsp:sp>
    <dsp:sp modelId="{D5C0FBAD-9E7F-43C0-B772-5D559FF96AAD}">
      <dsp:nvSpPr>
        <dsp:cNvPr id="0" name=""/>
        <dsp:cNvSpPr/>
      </dsp:nvSpPr>
      <dsp:spPr>
        <a:xfrm>
          <a:off x="4632825" y="556416"/>
          <a:ext cx="430548" cy="91440"/>
        </a:xfrm>
        <a:custGeom>
          <a:avLst/>
          <a:gdLst/>
          <a:ahLst/>
          <a:cxnLst/>
          <a:rect l="0" t="0" r="0" b="0"/>
          <a:pathLst>
            <a:path>
              <a:moveTo>
                <a:pt x="0" y="45720"/>
              </a:moveTo>
              <a:lnTo>
                <a:pt x="430548"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6570" y="599831"/>
        <a:ext cx="23057" cy="4611"/>
      </dsp:txXfrm>
    </dsp:sp>
    <dsp:sp modelId="{D1E6C03A-7E24-48DF-943F-403BBC6C4C57}">
      <dsp:nvSpPr>
        <dsp:cNvPr id="0" name=""/>
        <dsp:cNvSpPr/>
      </dsp:nvSpPr>
      <dsp:spPr>
        <a:xfrm>
          <a:off x="2629630" y="638"/>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a:t>What type of supermarket should be provided ? </a:t>
          </a:r>
          <a:endParaRPr lang="en-US" sz="1400" kern="1200"/>
        </a:p>
      </dsp:txBody>
      <dsp:txXfrm>
        <a:off x="2629630" y="638"/>
        <a:ext cx="2004994" cy="1202996"/>
      </dsp:txXfrm>
    </dsp:sp>
    <dsp:sp modelId="{DFB28ECE-B419-4979-ADC5-E196C0AA545F}">
      <dsp:nvSpPr>
        <dsp:cNvPr id="0" name=""/>
        <dsp:cNvSpPr/>
      </dsp:nvSpPr>
      <dsp:spPr>
        <a:xfrm>
          <a:off x="7098968" y="556416"/>
          <a:ext cx="430548" cy="91440"/>
        </a:xfrm>
        <a:custGeom>
          <a:avLst/>
          <a:gdLst/>
          <a:ahLst/>
          <a:cxnLst/>
          <a:rect l="0" t="0" r="0" b="0"/>
          <a:pathLst>
            <a:path>
              <a:moveTo>
                <a:pt x="0" y="45720"/>
              </a:moveTo>
              <a:lnTo>
                <a:pt x="430548"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2713" y="599831"/>
        <a:ext cx="23057" cy="4611"/>
      </dsp:txXfrm>
    </dsp:sp>
    <dsp:sp modelId="{6A92F850-444F-462B-9F7D-A59A544F4185}">
      <dsp:nvSpPr>
        <dsp:cNvPr id="0" name=""/>
        <dsp:cNvSpPr/>
      </dsp:nvSpPr>
      <dsp:spPr>
        <a:xfrm>
          <a:off x="5095773" y="638"/>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a:t>What type is preferred by people in that area ? </a:t>
          </a:r>
          <a:endParaRPr lang="en-US" sz="1400" kern="1200"/>
        </a:p>
      </dsp:txBody>
      <dsp:txXfrm>
        <a:off x="5095773" y="638"/>
        <a:ext cx="2004994" cy="1202996"/>
      </dsp:txXfrm>
    </dsp:sp>
    <dsp:sp modelId="{9BBA4C0E-8DD4-440B-AEF1-36A2659C48C5}">
      <dsp:nvSpPr>
        <dsp:cNvPr id="0" name=""/>
        <dsp:cNvSpPr/>
      </dsp:nvSpPr>
      <dsp:spPr>
        <a:xfrm>
          <a:off x="1165984" y="1201835"/>
          <a:ext cx="7398429" cy="430548"/>
        </a:xfrm>
        <a:custGeom>
          <a:avLst/>
          <a:gdLst/>
          <a:ahLst/>
          <a:cxnLst/>
          <a:rect l="0" t="0" r="0" b="0"/>
          <a:pathLst>
            <a:path>
              <a:moveTo>
                <a:pt x="7398429" y="0"/>
              </a:moveTo>
              <a:lnTo>
                <a:pt x="7398429" y="232374"/>
              </a:lnTo>
              <a:lnTo>
                <a:pt x="0" y="232374"/>
              </a:lnTo>
              <a:lnTo>
                <a:pt x="0" y="430548"/>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9879" y="1414803"/>
        <a:ext cx="370639" cy="4611"/>
      </dsp:txXfrm>
    </dsp:sp>
    <dsp:sp modelId="{02A97B61-8D58-485E-9FE8-12054DE32F7F}">
      <dsp:nvSpPr>
        <dsp:cNvPr id="0" name=""/>
        <dsp:cNvSpPr/>
      </dsp:nvSpPr>
      <dsp:spPr>
        <a:xfrm>
          <a:off x="7561916" y="638"/>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a:t>What type of people live in that area ( students, company employees, etc ) ? </a:t>
          </a:r>
          <a:endParaRPr lang="en-US" sz="1400" kern="1200"/>
        </a:p>
      </dsp:txBody>
      <dsp:txXfrm>
        <a:off x="7561916" y="638"/>
        <a:ext cx="2004994" cy="1202996"/>
      </dsp:txXfrm>
    </dsp:sp>
    <dsp:sp modelId="{6809F11B-70F9-44BE-9309-91F8319D0E11}">
      <dsp:nvSpPr>
        <dsp:cNvPr id="0" name=""/>
        <dsp:cNvSpPr/>
      </dsp:nvSpPr>
      <dsp:spPr>
        <a:xfrm>
          <a:off x="2166682" y="2220562"/>
          <a:ext cx="430548" cy="91440"/>
        </a:xfrm>
        <a:custGeom>
          <a:avLst/>
          <a:gdLst/>
          <a:ahLst/>
          <a:cxnLst/>
          <a:rect l="0" t="0" r="0" b="0"/>
          <a:pathLst>
            <a:path>
              <a:moveTo>
                <a:pt x="0" y="45720"/>
              </a:moveTo>
              <a:lnTo>
                <a:pt x="430548"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70427" y="2263976"/>
        <a:ext cx="23057" cy="4611"/>
      </dsp:txXfrm>
    </dsp:sp>
    <dsp:sp modelId="{C65CA53A-775C-4F59-A160-B55A9156C428}">
      <dsp:nvSpPr>
        <dsp:cNvPr id="0" name=""/>
        <dsp:cNvSpPr/>
      </dsp:nvSpPr>
      <dsp:spPr>
        <a:xfrm>
          <a:off x="163487" y="1664783"/>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a:t>How many supermarkets are present in that area ? </a:t>
          </a:r>
          <a:endParaRPr lang="en-US" sz="1400" kern="1200"/>
        </a:p>
      </dsp:txBody>
      <dsp:txXfrm>
        <a:off x="163487" y="1664783"/>
        <a:ext cx="2004994" cy="1202996"/>
      </dsp:txXfrm>
    </dsp:sp>
    <dsp:sp modelId="{4EBDE94A-605C-4A0B-B8E2-04682F166EF1}">
      <dsp:nvSpPr>
        <dsp:cNvPr id="0" name=""/>
        <dsp:cNvSpPr/>
      </dsp:nvSpPr>
      <dsp:spPr>
        <a:xfrm>
          <a:off x="2629630" y="1664783"/>
          <a:ext cx="2004994" cy="1202996"/>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8246" tIns="103127" rIns="98246" bIns="103127" numCol="1" spcCol="1270" anchor="ctr" anchorCtr="0">
          <a:noAutofit/>
        </a:bodyPr>
        <a:lstStyle/>
        <a:p>
          <a:pPr marL="0" lvl="0" indent="0" algn="ctr" defTabSz="622300">
            <a:lnSpc>
              <a:spcPct val="90000"/>
            </a:lnSpc>
            <a:spcBef>
              <a:spcPct val="0"/>
            </a:spcBef>
            <a:spcAft>
              <a:spcPct val="35000"/>
            </a:spcAft>
            <a:buNone/>
          </a:pPr>
          <a:r>
            <a:rPr lang="en-US" sz="1400" b="0" i="0" kern="1200"/>
            <a:t>What other specialties should be provided to attract customers ?</a:t>
          </a:r>
          <a:endParaRPr lang="en-US" sz="1400" kern="1200"/>
        </a:p>
      </dsp:txBody>
      <dsp:txXfrm>
        <a:off x="2629630" y="1664783"/>
        <a:ext cx="2004994" cy="12029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DE7FFC-695C-449D-9B16-3778414BBFA5}">
      <dsp:nvSpPr>
        <dsp:cNvPr id="0" name=""/>
        <dsp:cNvSpPr/>
      </dsp:nvSpPr>
      <dsp:spPr>
        <a:xfrm>
          <a:off x="4827" y="0"/>
          <a:ext cx="1410215" cy="736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471F24-15E8-473F-B3C9-2C01174E54EB}">
      <dsp:nvSpPr>
        <dsp:cNvPr id="0" name=""/>
        <dsp:cNvSpPr/>
      </dsp:nvSpPr>
      <dsp:spPr>
        <a:xfrm>
          <a:off x="46811" y="0"/>
          <a:ext cx="4029186" cy="1932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100000"/>
            </a:lnSpc>
            <a:spcBef>
              <a:spcPct val="0"/>
            </a:spcBef>
            <a:spcAft>
              <a:spcPct val="35000"/>
            </a:spcAft>
            <a:buNone/>
            <a:defRPr b="1"/>
          </a:pPr>
          <a:endParaRPr lang="en-US" sz="900" b="0" i="0" kern="1200" dirty="0"/>
        </a:p>
        <a:p>
          <a:pPr marL="0" lvl="0" indent="0" algn="l" defTabSz="400050">
            <a:lnSpc>
              <a:spcPct val="100000"/>
            </a:lnSpc>
            <a:spcBef>
              <a:spcPct val="0"/>
            </a:spcBef>
            <a:spcAft>
              <a:spcPct val="35000"/>
            </a:spcAft>
            <a:buNone/>
            <a:defRPr b="1"/>
          </a:pPr>
          <a:endParaRPr lang="en-US" sz="900" b="0" i="0" kern="1200" dirty="0"/>
        </a:p>
        <a:p>
          <a:pPr marL="0" lvl="0" indent="0" algn="l" defTabSz="400050">
            <a:lnSpc>
              <a:spcPct val="100000"/>
            </a:lnSpc>
            <a:spcBef>
              <a:spcPct val="0"/>
            </a:spcBef>
            <a:spcAft>
              <a:spcPct val="35000"/>
            </a:spcAft>
            <a:buNone/>
            <a:defRPr b="1"/>
          </a:pPr>
          <a:endParaRPr lang="en-US" sz="900" b="0" i="0" kern="1200" dirty="0"/>
        </a:p>
        <a:p>
          <a:pPr marL="0" lvl="0" indent="0" algn="l" defTabSz="400050">
            <a:lnSpc>
              <a:spcPct val="100000"/>
            </a:lnSpc>
            <a:spcBef>
              <a:spcPct val="0"/>
            </a:spcBef>
            <a:spcAft>
              <a:spcPct val="35000"/>
            </a:spcAft>
            <a:buNone/>
            <a:defRPr b="1"/>
          </a:pPr>
          <a:endParaRPr lang="en-US" sz="900" b="0" i="0" kern="1200" dirty="0"/>
        </a:p>
        <a:p>
          <a:pPr marL="0" lvl="0" indent="0" algn="l" defTabSz="400050">
            <a:lnSpc>
              <a:spcPct val="100000"/>
            </a:lnSpc>
            <a:spcBef>
              <a:spcPct val="0"/>
            </a:spcBef>
            <a:spcAft>
              <a:spcPct val="35000"/>
            </a:spcAft>
            <a:buNone/>
            <a:defRPr b="1"/>
          </a:pPr>
          <a:endParaRPr lang="en-US" sz="900" b="0" i="0" kern="1200" dirty="0"/>
        </a:p>
        <a:p>
          <a:pPr marL="0" lvl="0" indent="0" algn="l" defTabSz="400050">
            <a:lnSpc>
              <a:spcPct val="100000"/>
            </a:lnSpc>
            <a:spcBef>
              <a:spcPct val="0"/>
            </a:spcBef>
            <a:spcAft>
              <a:spcPct val="35000"/>
            </a:spcAft>
            <a:buNone/>
            <a:defRPr b="1"/>
          </a:pPr>
          <a:r>
            <a:rPr lang="en-US" sz="1000" b="1" i="0" kern="1200" dirty="0"/>
            <a:t>To open a new store, the following information would be required </a:t>
          </a:r>
        </a:p>
        <a:p>
          <a:pPr marL="0" lvl="0" indent="0" algn="l" defTabSz="400050">
            <a:lnSpc>
              <a:spcPct val="100000"/>
            </a:lnSpc>
            <a:spcBef>
              <a:spcPct val="0"/>
            </a:spcBef>
            <a:spcAft>
              <a:spcPct val="35000"/>
            </a:spcAft>
            <a:buNone/>
            <a:defRPr b="1"/>
          </a:pPr>
          <a:r>
            <a:rPr lang="en-US" sz="1000" b="0" i="0" kern="1200" dirty="0"/>
            <a:t>-Accurate latitude and longitude coordinates are necessary to precisely pinpoint the location of interest</a:t>
          </a:r>
          <a:endParaRPr lang="en-US" sz="1000" kern="1200" dirty="0"/>
        </a:p>
        <a:p>
          <a:pPr marL="0" lvl="0" indent="0" algn="l" defTabSz="400050">
            <a:lnSpc>
              <a:spcPct val="100000"/>
            </a:lnSpc>
            <a:spcBef>
              <a:spcPct val="0"/>
            </a:spcBef>
            <a:spcAft>
              <a:spcPct val="35000"/>
            </a:spcAft>
            <a:buNone/>
            <a:defRPr b="1"/>
          </a:pPr>
          <a:r>
            <a:rPr lang="en-US" sz="1000" b="0" i="0" kern="1200" dirty="0"/>
            <a:t>-The population of the neighborhood is gathered to understand the potential customer base and market size</a:t>
          </a:r>
          <a:endParaRPr lang="en-US" sz="1000" kern="1200" dirty="0"/>
        </a:p>
        <a:p>
          <a:pPr marL="0" lvl="0" indent="0" algn="l" defTabSz="400050">
            <a:lnSpc>
              <a:spcPct val="100000"/>
            </a:lnSpc>
            <a:spcBef>
              <a:spcPct val="0"/>
            </a:spcBef>
            <a:spcAft>
              <a:spcPct val="35000"/>
            </a:spcAft>
            <a:buNone/>
            <a:defRPr b="1"/>
          </a:pPr>
          <a:r>
            <a:rPr lang="en-US" sz="1000" b="0" i="0" kern="1200" dirty="0"/>
            <a:t>-Demographic information: Information regarding the type of people residing in each neighborhood is collected. This includes factors such as age groups, occupation types (students, employees), Average income and other relevant demographic characteristics</a:t>
          </a:r>
          <a:endParaRPr lang="en-US" sz="1000" kern="1200" dirty="0"/>
        </a:p>
        <a:p>
          <a:pPr marL="0" lvl="0" indent="0" algn="l" defTabSz="400050">
            <a:lnSpc>
              <a:spcPct val="100000"/>
            </a:lnSpc>
            <a:spcBef>
              <a:spcPct val="0"/>
            </a:spcBef>
            <a:spcAft>
              <a:spcPct val="35000"/>
            </a:spcAft>
            <a:buNone/>
            <a:defRPr b="1"/>
          </a:pPr>
          <a:r>
            <a:rPr lang="en-US" sz="1000" b="0" i="0" kern="1200" dirty="0"/>
            <a:t>-The preference of people towards a certain type of food which would help in determining the type of food that will resonate with the target audience</a:t>
          </a:r>
          <a:endParaRPr lang="en-US" sz="1000" kern="1200" dirty="0"/>
        </a:p>
        <a:p>
          <a:pPr marL="0" lvl="0" indent="0" algn="l" defTabSz="400050">
            <a:lnSpc>
              <a:spcPct val="100000"/>
            </a:lnSpc>
            <a:spcBef>
              <a:spcPct val="0"/>
            </a:spcBef>
            <a:spcAft>
              <a:spcPct val="35000"/>
            </a:spcAft>
            <a:buNone/>
            <a:defRPr b="1"/>
          </a:pPr>
          <a:r>
            <a:rPr lang="en-US" sz="1000" b="0" i="0" kern="1200" dirty="0"/>
            <a:t>-Other service details such as transport, taxi, etc. </a:t>
          </a:r>
          <a:endParaRPr lang="en-US" sz="1000" kern="1200" dirty="0"/>
        </a:p>
        <a:p>
          <a:pPr marL="0" lvl="0" indent="0" algn="l" defTabSz="400050">
            <a:lnSpc>
              <a:spcPct val="100000"/>
            </a:lnSpc>
            <a:spcBef>
              <a:spcPct val="0"/>
            </a:spcBef>
            <a:spcAft>
              <a:spcPct val="35000"/>
            </a:spcAft>
            <a:buNone/>
            <a:defRPr b="1"/>
          </a:pPr>
          <a:r>
            <a:rPr lang="en-US" sz="1000" b="0" i="0" kern="1200" dirty="0"/>
            <a:t>-Competitors in the neighborhood</a:t>
          </a:r>
          <a:endParaRPr lang="en-US" sz="1000" kern="1200" dirty="0"/>
        </a:p>
      </dsp:txBody>
      <dsp:txXfrm>
        <a:off x="46811" y="0"/>
        <a:ext cx="4029186" cy="1932708"/>
      </dsp:txXfrm>
    </dsp:sp>
    <dsp:sp modelId="{48C473AA-029C-41A5-B00C-174F2429CBE8}">
      <dsp:nvSpPr>
        <dsp:cNvPr id="0" name=""/>
        <dsp:cNvSpPr/>
      </dsp:nvSpPr>
      <dsp:spPr>
        <a:xfrm>
          <a:off x="4827" y="2789800"/>
          <a:ext cx="4029186" cy="8755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00050">
            <a:lnSpc>
              <a:spcPct val="100000"/>
            </a:lnSpc>
            <a:spcBef>
              <a:spcPct val="0"/>
            </a:spcBef>
            <a:spcAft>
              <a:spcPct val="35000"/>
            </a:spcAft>
            <a:buNone/>
          </a:pPr>
          <a:endParaRPr lang="en-US" sz="900" kern="1200" dirty="0"/>
        </a:p>
      </dsp:txBody>
      <dsp:txXfrm>
        <a:off x="4827" y="2789800"/>
        <a:ext cx="4029186" cy="875548"/>
      </dsp:txXfrm>
    </dsp:sp>
    <dsp:sp modelId="{9706557B-4A96-4E32-9039-EEDA24858049}">
      <dsp:nvSpPr>
        <dsp:cNvPr id="0" name=""/>
        <dsp:cNvSpPr/>
      </dsp:nvSpPr>
      <dsp:spPr>
        <a:xfrm>
          <a:off x="4739121" y="0"/>
          <a:ext cx="1410215" cy="736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4B43D4C-C605-48C7-AD60-781C89D5ED66}">
      <dsp:nvSpPr>
        <dsp:cNvPr id="0" name=""/>
        <dsp:cNvSpPr/>
      </dsp:nvSpPr>
      <dsp:spPr>
        <a:xfrm>
          <a:off x="4739121" y="818807"/>
          <a:ext cx="4029186" cy="1932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44500">
            <a:lnSpc>
              <a:spcPct val="100000"/>
            </a:lnSpc>
            <a:spcBef>
              <a:spcPct val="0"/>
            </a:spcBef>
            <a:spcAft>
              <a:spcPct val="35000"/>
            </a:spcAft>
            <a:buNone/>
            <a:defRPr b="1"/>
          </a:pPr>
          <a:r>
            <a:rPr lang="en-US" sz="1000" b="0" i="0" kern="1200" dirty="0"/>
            <a:t>-I obtained the required information from various sources such as KNBS, census report websites, web scraping, open street data, </a:t>
          </a:r>
          <a:r>
            <a:rPr lang="en-US" sz="1000" b="0" i="0" kern="1200" dirty="0" err="1"/>
            <a:t>etc</a:t>
          </a:r>
          <a:endParaRPr lang="en-US" sz="1000" kern="1200" dirty="0"/>
        </a:p>
      </dsp:txBody>
      <dsp:txXfrm>
        <a:off x="4739121" y="818807"/>
        <a:ext cx="4029186" cy="1932708"/>
      </dsp:txXfrm>
    </dsp:sp>
    <dsp:sp modelId="{22E47B0B-964D-40D7-B62C-438949FAED00}">
      <dsp:nvSpPr>
        <dsp:cNvPr id="0" name=""/>
        <dsp:cNvSpPr/>
      </dsp:nvSpPr>
      <dsp:spPr>
        <a:xfrm>
          <a:off x="4739121" y="2789800"/>
          <a:ext cx="4029186" cy="87554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447" y="1"/>
            <a:ext cx="11113947" cy="578149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052693" y="1769220"/>
            <a:ext cx="8044220" cy="2256166"/>
          </a:xfrm>
          <a:prstGeom prst="rect">
            <a:avLst/>
          </a:prstGeom>
        </p:spPr>
        <p:txBody>
          <a:bodyPr anchor="b"/>
          <a:lstStyle>
            <a:lvl1pPr>
              <a:defRPr sz="4550"/>
            </a:lvl1pPr>
          </a:lstStyle>
          <a:p>
            <a:r>
              <a:rPr lang="en-US"/>
              <a:t>Click to edit Master title style</a:t>
            </a:r>
            <a:endParaRPr lang="en-US" dirty="0"/>
          </a:p>
        </p:txBody>
      </p:sp>
      <p:sp>
        <p:nvSpPr>
          <p:cNvPr id="3" name="Subtitle 2"/>
          <p:cNvSpPr>
            <a:spLocks noGrp="1"/>
          </p:cNvSpPr>
          <p:nvPr>
            <p:ph type="subTitle" idx="1"/>
          </p:nvPr>
        </p:nvSpPr>
        <p:spPr>
          <a:xfrm>
            <a:off x="1052693" y="4025385"/>
            <a:ext cx="8044220" cy="725826"/>
          </a:xfrm>
        </p:spPr>
        <p:txBody>
          <a:bodyPr anchor="t"/>
          <a:lstStyle>
            <a:lvl1pPr marL="0" indent="0" algn="l">
              <a:buNone/>
              <a:defRPr cap="all">
                <a:solidFill>
                  <a:schemeClr val="tx2">
                    <a:lumMod val="40000"/>
                    <a:lumOff val="60000"/>
                  </a:schemeClr>
                </a:solidFill>
              </a:defRPr>
            </a:lvl1pPr>
            <a:lvl2pPr marL="385237" indent="0" algn="ctr">
              <a:buNone/>
              <a:defRPr>
                <a:solidFill>
                  <a:schemeClr val="tx1">
                    <a:tint val="75000"/>
                  </a:schemeClr>
                </a:solidFill>
              </a:defRPr>
            </a:lvl2pPr>
            <a:lvl3pPr marL="770473" indent="0" algn="ctr">
              <a:buNone/>
              <a:defRPr>
                <a:solidFill>
                  <a:schemeClr val="tx1">
                    <a:tint val="75000"/>
                  </a:schemeClr>
                </a:solidFill>
              </a:defRPr>
            </a:lvl3pPr>
            <a:lvl4pPr marL="1155710" indent="0" algn="ctr">
              <a:buNone/>
              <a:defRPr>
                <a:solidFill>
                  <a:schemeClr val="tx1">
                    <a:tint val="75000"/>
                  </a:schemeClr>
                </a:solidFill>
              </a:defRPr>
            </a:lvl4pPr>
            <a:lvl5pPr marL="1540947" indent="0" algn="ctr">
              <a:buNone/>
              <a:defRPr>
                <a:solidFill>
                  <a:schemeClr val="tx1">
                    <a:tint val="75000"/>
                  </a:schemeClr>
                </a:solidFill>
              </a:defRPr>
            </a:lvl5pPr>
            <a:lvl6pPr marL="1926184" indent="0" algn="ctr">
              <a:buNone/>
              <a:defRPr>
                <a:solidFill>
                  <a:schemeClr val="tx1">
                    <a:tint val="75000"/>
                  </a:schemeClr>
                </a:solidFill>
              </a:defRPr>
            </a:lvl6pPr>
            <a:lvl7pPr marL="2311420" indent="0" algn="ctr">
              <a:buNone/>
              <a:defRPr>
                <a:solidFill>
                  <a:schemeClr val="tx1">
                    <a:tint val="75000"/>
                  </a:schemeClr>
                </a:solidFill>
              </a:defRPr>
            </a:lvl7pPr>
            <a:lvl8pPr marL="2696657" indent="0" algn="ctr">
              <a:buNone/>
              <a:defRPr>
                <a:solidFill>
                  <a:schemeClr val="tx1">
                    <a:tint val="75000"/>
                  </a:schemeClr>
                </a:solidFill>
              </a:defRPr>
            </a:lvl8pPr>
            <a:lvl9pPr marL="3081894"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9293600" y="1499620"/>
            <a:ext cx="834671" cy="277812"/>
          </a:xfrm>
        </p:spPr>
        <p:txBody>
          <a:bodyPr/>
          <a:lstStyle>
            <a:lvl1pPr algn="l">
              <a:defRPr b="0">
                <a:solidFill>
                  <a:schemeClr val="bg1"/>
                </a:solidFill>
              </a:defRPr>
            </a:lvl1p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a:xfrm rot="5400000">
            <a:off x="8292536" y="2709042"/>
            <a:ext cx="3259074" cy="283369"/>
          </a:xfrm>
        </p:spPr>
        <p:txBody>
          <a:bodyPr/>
          <a:lstStyle>
            <a:lvl1pPr>
              <a:defRPr sz="843" b="0">
                <a:solidFill>
                  <a:schemeClr val="bg1"/>
                </a:solidFill>
              </a:defRPr>
            </a:lvl1pPr>
          </a:lstStyle>
          <a:p>
            <a:endParaRPr lang="en-KE"/>
          </a:p>
        </p:txBody>
      </p:sp>
      <p:sp>
        <p:nvSpPr>
          <p:cNvPr id="8" name="Rectangle 7"/>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9434513" y="246550"/>
            <a:ext cx="763983" cy="646847"/>
          </a:xfrm>
        </p:spPr>
        <p:txBody>
          <a:bodyPr/>
          <a:lstStyle>
            <a:lvl1pPr>
              <a:defRPr sz="2359" b="0" i="0">
                <a:latin typeface="+mj-lt"/>
              </a:defRPr>
            </a:lvl1pPr>
          </a:lstStyle>
          <a:p>
            <a:fld id="{A2773C48-BA73-40A6-AC9F-719E1CC0CF0E}" type="slidenum">
              <a:rPr lang="en-KE" smtClean="0"/>
              <a:t>‹#›</a:t>
            </a:fld>
            <a:endParaRPr lang="en-KE"/>
          </a:p>
        </p:txBody>
      </p:sp>
    </p:spTree>
    <p:extLst>
      <p:ext uri="{BB962C8B-B14F-4D97-AF65-F5344CB8AC3E}">
        <p14:creationId xmlns:p14="http://schemas.microsoft.com/office/powerpoint/2010/main" val="976581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52693" y="820406"/>
            <a:ext cx="8044220" cy="595683"/>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052693" y="2193690"/>
            <a:ext cx="8044220" cy="2878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lvl1pPr>
              <a:defRPr sz="843" b="1"/>
            </a:lvl1pPr>
          </a:lstStyle>
          <a:p>
            <a:endParaRPr lang="en-KE"/>
          </a:p>
        </p:txBody>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636913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447" y="1"/>
            <a:ext cx="11113947" cy="578149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2694" y="2257467"/>
            <a:ext cx="3958828" cy="1926167"/>
          </a:xfrm>
          <a:prstGeom prst="rect">
            <a:avLst/>
          </a:prstGeom>
        </p:spPr>
        <p:txBody>
          <a:bodyPr anchor="ctr" anchorCtr="0"/>
          <a:lstStyle>
            <a:lvl1pPr algn="l">
              <a:defRPr sz="3370" b="0" cap="none"/>
            </a:lvl1pPr>
          </a:lstStyle>
          <a:p>
            <a:r>
              <a:rPr lang="en-US"/>
              <a:t>Click to edit Master title style</a:t>
            </a:r>
            <a:endParaRPr lang="en-US" dirty="0"/>
          </a:p>
        </p:txBody>
      </p:sp>
      <p:sp>
        <p:nvSpPr>
          <p:cNvPr id="3" name="Text Placeholder 2"/>
          <p:cNvSpPr>
            <a:spLocks noGrp="1"/>
          </p:cNvSpPr>
          <p:nvPr>
            <p:ph type="body" idx="1"/>
          </p:nvPr>
        </p:nvSpPr>
        <p:spPr>
          <a:xfrm>
            <a:off x="6284119" y="2257467"/>
            <a:ext cx="3425428" cy="1926167"/>
          </a:xfrm>
        </p:spPr>
        <p:txBody>
          <a:bodyPr anchor="ctr" anchorCtr="0"/>
          <a:lstStyle>
            <a:lvl1pPr marL="0" indent="0" algn="l">
              <a:buNone/>
              <a:defRPr sz="1685" cap="all">
                <a:solidFill>
                  <a:schemeClr val="accent1"/>
                </a:solidFill>
              </a:defRPr>
            </a:lvl1pPr>
            <a:lvl2pPr marL="385237" indent="0">
              <a:buNone/>
              <a:defRPr sz="1517">
                <a:solidFill>
                  <a:schemeClr val="tx1">
                    <a:tint val="75000"/>
                  </a:schemeClr>
                </a:solidFill>
              </a:defRPr>
            </a:lvl2pPr>
            <a:lvl3pPr marL="770473" indent="0">
              <a:buNone/>
              <a:defRPr sz="1348">
                <a:solidFill>
                  <a:schemeClr val="tx1">
                    <a:tint val="75000"/>
                  </a:schemeClr>
                </a:solidFill>
              </a:defRPr>
            </a:lvl3pPr>
            <a:lvl4pPr marL="1155710" indent="0">
              <a:buNone/>
              <a:defRPr sz="1180">
                <a:solidFill>
                  <a:schemeClr val="tx1">
                    <a:tint val="75000"/>
                  </a:schemeClr>
                </a:solidFill>
              </a:defRPr>
            </a:lvl4pPr>
            <a:lvl5pPr marL="1540947" indent="0">
              <a:buNone/>
              <a:defRPr sz="1180">
                <a:solidFill>
                  <a:schemeClr val="tx1">
                    <a:tint val="75000"/>
                  </a:schemeClr>
                </a:solidFill>
              </a:defRPr>
            </a:lvl5pPr>
            <a:lvl6pPr marL="1926184" indent="0">
              <a:buNone/>
              <a:defRPr sz="1180">
                <a:solidFill>
                  <a:schemeClr val="tx1">
                    <a:tint val="75000"/>
                  </a:schemeClr>
                </a:solidFill>
              </a:defRPr>
            </a:lvl6pPr>
            <a:lvl7pPr marL="2311420" indent="0">
              <a:buNone/>
              <a:defRPr sz="1180">
                <a:solidFill>
                  <a:schemeClr val="tx1">
                    <a:tint val="75000"/>
                  </a:schemeClr>
                </a:solidFill>
              </a:defRPr>
            </a:lvl7pPr>
            <a:lvl8pPr marL="2696657" indent="0">
              <a:buNone/>
              <a:defRPr sz="1180">
                <a:solidFill>
                  <a:schemeClr val="tx1">
                    <a:tint val="75000"/>
                  </a:schemeClr>
                </a:solidFill>
              </a:defRPr>
            </a:lvl8pPr>
            <a:lvl9pPr marL="3081894" indent="0">
              <a:buNone/>
              <a:defRPr sz="11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lvl1pPr>
              <a:defRPr sz="843" b="1"/>
            </a:lvl1pPr>
          </a:lstStyle>
          <a:p>
            <a:endParaRPr lang="en-KE"/>
          </a:p>
        </p:txBody>
      </p:sp>
      <p:sp>
        <p:nvSpPr>
          <p:cNvPr id="10" name="Rectangle 9"/>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600263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52692" y="816695"/>
            <a:ext cx="8044220" cy="593259"/>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052692" y="2193690"/>
            <a:ext cx="4400550" cy="28785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9041" y="2193690"/>
            <a:ext cx="4400550" cy="287854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EC8733-C3F3-46A6-82BD-071FBEE0881A}" type="datetimeFigureOut">
              <a:rPr lang="en-KE" smtClean="0"/>
              <a:t>14/09/2024</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4232405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52693" y="816695"/>
            <a:ext cx="8044220" cy="593259"/>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52692" y="2195830"/>
            <a:ext cx="4400550" cy="485554"/>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4" name="Content Placeholder 3"/>
          <p:cNvSpPr>
            <a:spLocks noGrp="1"/>
          </p:cNvSpPr>
          <p:nvPr>
            <p:ph sz="half" idx="2"/>
          </p:nvPr>
        </p:nvSpPr>
        <p:spPr>
          <a:xfrm>
            <a:off x="1052692" y="2694989"/>
            <a:ext cx="4400550" cy="239615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9041" y="2195830"/>
            <a:ext cx="4400550" cy="485554"/>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6" name="Content Placeholder 5"/>
          <p:cNvSpPr>
            <a:spLocks noGrp="1"/>
          </p:cNvSpPr>
          <p:nvPr>
            <p:ph sz="quarter" idx="4"/>
          </p:nvPr>
        </p:nvSpPr>
        <p:spPr>
          <a:xfrm>
            <a:off x="5658982" y="2686119"/>
            <a:ext cx="4397932" cy="240502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EC8733-C3F3-46A6-82BD-071FBEE0881A}" type="datetimeFigureOut">
              <a:rPr lang="en-KE" smtClean="0"/>
              <a:t>14/09/2024</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787293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50132" y="816695"/>
            <a:ext cx="8044220" cy="593259"/>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EC8733-C3F3-46A6-82BD-071FBEE0881A}" type="datetimeFigureOut">
              <a:rPr lang="en-KE" smtClean="0"/>
              <a:t>14/09/2024</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459535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C8733-C3F3-46A6-82BD-071FBEE0881A}" type="datetimeFigureOut">
              <a:rPr lang="en-KE" smtClean="0"/>
              <a:t>14/09/2024</a:t>
            </a:fld>
            <a:endParaRPr lang="en-KE"/>
          </a:p>
        </p:txBody>
      </p:sp>
      <p:sp>
        <p:nvSpPr>
          <p:cNvPr id="3" name="Footer Placeholder 2"/>
          <p:cNvSpPr>
            <a:spLocks noGrp="1"/>
          </p:cNvSpPr>
          <p:nvPr>
            <p:ph type="ftr" sz="quarter" idx="11"/>
          </p:nvPr>
        </p:nvSpPr>
        <p:spPr/>
        <p:txBody>
          <a:bodyPr/>
          <a:lstStyle/>
          <a:p>
            <a:endParaRPr lang="en-KE"/>
          </a:p>
        </p:txBody>
      </p:sp>
      <p:sp>
        <p:nvSpPr>
          <p:cNvPr id="6" name="Rectangle 5"/>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246992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447" y="1"/>
            <a:ext cx="11113947" cy="578149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2692" y="1094063"/>
            <a:ext cx="2545848" cy="1345748"/>
          </a:xfrm>
          <a:prstGeom prst="rect">
            <a:avLst/>
          </a:prstGeom>
        </p:spPr>
        <p:txBody>
          <a:bodyPr anchor="b"/>
          <a:lstStyle>
            <a:lvl1pPr algn="l">
              <a:defRPr sz="2022" b="0"/>
            </a:lvl1pPr>
          </a:lstStyle>
          <a:p>
            <a:r>
              <a:rPr lang="en-US"/>
              <a:t>Click to edit Master title style</a:t>
            </a:r>
            <a:endParaRPr lang="en-US" dirty="0"/>
          </a:p>
        </p:txBody>
      </p:sp>
      <p:sp>
        <p:nvSpPr>
          <p:cNvPr id="3" name="Content Placeholder 2"/>
          <p:cNvSpPr>
            <a:spLocks noGrp="1"/>
          </p:cNvSpPr>
          <p:nvPr>
            <p:ph idx="1"/>
          </p:nvPr>
        </p:nvSpPr>
        <p:spPr>
          <a:xfrm>
            <a:off x="5267325" y="1219906"/>
            <a:ext cx="4735935" cy="385233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052692" y="2636709"/>
            <a:ext cx="2545848" cy="2439810"/>
          </a:xfrm>
        </p:spPr>
        <p:txBody>
          <a:bodyPr/>
          <a:lstStyle>
            <a:lvl1pPr marL="0" indent="0">
              <a:buNone/>
              <a:defRPr sz="1180">
                <a:solidFill>
                  <a:schemeClr val="tx2">
                    <a:lumMod val="40000"/>
                    <a:lumOff val="60000"/>
                  </a:schemeClr>
                </a:solidFill>
              </a:defRPr>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5" name="Date Placeholder 4"/>
          <p:cNvSpPr>
            <a:spLocks noGrp="1"/>
          </p:cNvSpPr>
          <p:nvPr>
            <p:ph type="dt" sz="half" idx="10"/>
          </p:nvPr>
        </p:nvSpPr>
        <p:spPr/>
        <p:txBody>
          <a:bodyPr/>
          <a:lstStyle/>
          <a:p>
            <a:fld id="{81EC8733-C3F3-46A6-82BD-071FBEE0881A}" type="datetimeFigureOut">
              <a:rPr lang="en-KE" smtClean="0"/>
              <a:t>14/09/2024</a:t>
            </a:fld>
            <a:endParaRPr lang="en-KE"/>
          </a:p>
        </p:txBody>
      </p:sp>
      <p:sp>
        <p:nvSpPr>
          <p:cNvPr id="6" name="Footer Placeholder 5"/>
          <p:cNvSpPr>
            <a:spLocks noGrp="1"/>
          </p:cNvSpPr>
          <p:nvPr>
            <p:ph type="ftr" sz="quarter" idx="11"/>
          </p:nvPr>
        </p:nvSpPr>
        <p:spPr/>
        <p:txBody>
          <a:bodyPr/>
          <a:lstStyle/>
          <a:p>
            <a:endParaRPr lang="en-KE"/>
          </a:p>
        </p:txBody>
      </p:sp>
      <p:sp>
        <p:nvSpPr>
          <p:cNvPr id="13" name="Rectangle 12"/>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1332625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447" y="1"/>
            <a:ext cx="11113947" cy="578149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1739" y="1426789"/>
            <a:ext cx="3518465" cy="1462461"/>
          </a:xfrm>
          <a:prstGeom prst="rect">
            <a:avLst/>
          </a:prstGeom>
        </p:spPr>
        <p:txBody>
          <a:bodyPr anchor="b">
            <a:normAutofit/>
          </a:bodyPr>
          <a:lstStyle>
            <a:lvl1pPr algn="l">
              <a:defRPr sz="3033"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68111" y="963084"/>
            <a:ext cx="2941452" cy="38523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48"/>
            </a:lvl1pPr>
            <a:lvl2pPr marL="385237" indent="0">
              <a:buNone/>
              <a:defRPr sz="1348"/>
            </a:lvl2pPr>
            <a:lvl3pPr marL="770473" indent="0">
              <a:buNone/>
              <a:defRPr sz="1348"/>
            </a:lvl3pPr>
            <a:lvl4pPr marL="1155710" indent="0">
              <a:buNone/>
              <a:defRPr sz="1348"/>
            </a:lvl4pPr>
            <a:lvl5pPr marL="1540947" indent="0">
              <a:buNone/>
              <a:defRPr sz="1348"/>
            </a:lvl5pPr>
            <a:lvl6pPr marL="1926184" indent="0">
              <a:buNone/>
              <a:defRPr sz="1348"/>
            </a:lvl6pPr>
            <a:lvl7pPr marL="2311420" indent="0">
              <a:buNone/>
              <a:defRPr sz="1348"/>
            </a:lvl7pPr>
            <a:lvl8pPr marL="2696657" indent="0">
              <a:buNone/>
              <a:defRPr sz="1348"/>
            </a:lvl8pPr>
            <a:lvl9pPr marL="3081894" indent="0">
              <a:buNone/>
              <a:defRPr sz="1348"/>
            </a:lvl9pPr>
          </a:lstStyle>
          <a:p>
            <a:r>
              <a:rPr lang="en-US"/>
              <a:t>Click icon to add picture</a:t>
            </a:r>
            <a:endParaRPr lang="en-US" dirty="0"/>
          </a:p>
        </p:txBody>
      </p:sp>
      <p:sp>
        <p:nvSpPr>
          <p:cNvPr id="4" name="Text Placeholder 3"/>
          <p:cNvSpPr>
            <a:spLocks noGrp="1"/>
          </p:cNvSpPr>
          <p:nvPr>
            <p:ph type="body" sz="half" idx="2"/>
          </p:nvPr>
        </p:nvSpPr>
        <p:spPr bwMode="gray">
          <a:xfrm>
            <a:off x="1052693" y="3081867"/>
            <a:ext cx="3517511" cy="1155700"/>
          </a:xfrm>
        </p:spPr>
        <p:txBody>
          <a:bodyPr>
            <a:normAutofit/>
          </a:bodyPr>
          <a:lstStyle>
            <a:lvl1pPr marL="0" indent="0">
              <a:buNone/>
              <a:defRPr sz="1180">
                <a:solidFill>
                  <a:schemeClr val="tx2">
                    <a:lumMod val="40000"/>
                    <a:lumOff val="60000"/>
                  </a:schemeClr>
                </a:solidFill>
              </a:defRPr>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5" name="Date Placeholder 4"/>
          <p:cNvSpPr>
            <a:spLocks noGrp="1"/>
          </p:cNvSpPr>
          <p:nvPr>
            <p:ph type="dt" sz="half" idx="10"/>
          </p:nvPr>
        </p:nvSpPr>
        <p:spPr/>
        <p:txBody>
          <a:bodyPr/>
          <a:lstStyle/>
          <a:p>
            <a:fld id="{81EC8733-C3F3-46A6-82BD-071FBEE0881A}" type="datetimeFigureOut">
              <a:rPr lang="en-KE" smtClean="0"/>
              <a:t>14/09/2024</a:t>
            </a:fld>
            <a:endParaRPr lang="en-KE"/>
          </a:p>
        </p:txBody>
      </p:sp>
      <p:sp>
        <p:nvSpPr>
          <p:cNvPr id="6" name="Footer Placeholder 5"/>
          <p:cNvSpPr>
            <a:spLocks noGrp="1"/>
          </p:cNvSpPr>
          <p:nvPr>
            <p:ph type="ftr" sz="quarter" idx="11"/>
          </p:nvPr>
        </p:nvSpPr>
        <p:spPr/>
        <p:txBody>
          <a:bodyPr/>
          <a:lstStyle/>
          <a:p>
            <a:endParaRPr lang="en-KE"/>
          </a:p>
        </p:txBody>
      </p:sp>
      <p:sp>
        <p:nvSpPr>
          <p:cNvPr id="13" name="Rectangle 12"/>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409294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447" y="1"/>
            <a:ext cx="11113947" cy="578149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2695" y="4187624"/>
            <a:ext cx="8044219" cy="477529"/>
          </a:xfrm>
          <a:prstGeom prst="rect">
            <a:avLst/>
          </a:prstGeom>
        </p:spPr>
        <p:txBody>
          <a:bodyPr anchor="b">
            <a:normAutofit/>
          </a:bodyPr>
          <a:lstStyle>
            <a:lvl1pPr algn="l">
              <a:defRPr sz="2022"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52693" y="577850"/>
            <a:ext cx="8044220" cy="288925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48"/>
            </a:lvl1pPr>
            <a:lvl2pPr marL="385237" indent="0">
              <a:buNone/>
              <a:defRPr sz="1348"/>
            </a:lvl2pPr>
            <a:lvl3pPr marL="770473" indent="0">
              <a:buNone/>
              <a:defRPr sz="1348"/>
            </a:lvl3pPr>
            <a:lvl4pPr marL="1155710" indent="0">
              <a:buNone/>
              <a:defRPr sz="1348"/>
            </a:lvl4pPr>
            <a:lvl5pPr marL="1540947" indent="0">
              <a:buNone/>
              <a:defRPr sz="1348"/>
            </a:lvl5pPr>
            <a:lvl6pPr marL="1926184" indent="0">
              <a:buNone/>
              <a:defRPr sz="1348"/>
            </a:lvl6pPr>
            <a:lvl7pPr marL="2311420" indent="0">
              <a:buNone/>
              <a:defRPr sz="1348"/>
            </a:lvl7pPr>
            <a:lvl8pPr marL="2696657" indent="0">
              <a:buNone/>
              <a:defRPr sz="1348"/>
            </a:lvl8pPr>
            <a:lvl9pPr marL="3081894" indent="0">
              <a:buNone/>
              <a:defRPr sz="1348"/>
            </a:lvl9pPr>
          </a:lstStyle>
          <a:p>
            <a:r>
              <a:rPr lang="en-US"/>
              <a:t>Click icon to add picture</a:t>
            </a:r>
            <a:endParaRPr lang="en-US" dirty="0"/>
          </a:p>
        </p:txBody>
      </p:sp>
      <p:sp>
        <p:nvSpPr>
          <p:cNvPr id="4" name="Text Placeholder 3"/>
          <p:cNvSpPr>
            <a:spLocks noGrp="1"/>
          </p:cNvSpPr>
          <p:nvPr>
            <p:ph type="body" sz="half" idx="2"/>
          </p:nvPr>
        </p:nvSpPr>
        <p:spPr bwMode="gray">
          <a:xfrm>
            <a:off x="1052695" y="4665153"/>
            <a:ext cx="8044218" cy="415998"/>
          </a:xfrm>
        </p:spPr>
        <p:txBody>
          <a:bodyPr>
            <a:normAutofit/>
          </a:bodyPr>
          <a:lstStyle>
            <a:lvl1pPr marL="0" indent="0">
              <a:buNone/>
              <a:defRPr sz="1011">
                <a:solidFill>
                  <a:schemeClr val="tx2">
                    <a:lumMod val="40000"/>
                    <a:lumOff val="60000"/>
                  </a:schemeClr>
                </a:solidFill>
              </a:defRPr>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5" name="Date Placeholder 4"/>
          <p:cNvSpPr>
            <a:spLocks noGrp="1"/>
          </p:cNvSpPr>
          <p:nvPr>
            <p:ph type="dt" sz="half" idx="10"/>
          </p:nvPr>
        </p:nvSpPr>
        <p:spPr/>
        <p:txBody>
          <a:bodyPr/>
          <a:lstStyle/>
          <a:p>
            <a:fld id="{81EC8733-C3F3-46A6-82BD-071FBEE0881A}" type="datetimeFigureOut">
              <a:rPr lang="en-KE" smtClean="0"/>
              <a:t>14/09/2024</a:t>
            </a:fld>
            <a:endParaRPr lang="en-KE"/>
          </a:p>
        </p:txBody>
      </p:sp>
      <p:sp>
        <p:nvSpPr>
          <p:cNvPr id="6" name="Footer Placeholder 5"/>
          <p:cNvSpPr>
            <a:spLocks noGrp="1"/>
          </p:cNvSpPr>
          <p:nvPr>
            <p:ph type="ftr" sz="quarter" idx="11"/>
          </p:nvPr>
        </p:nvSpPr>
        <p:spPr/>
        <p:txBody>
          <a:bodyPr/>
          <a:lstStyle/>
          <a:p>
            <a:endParaRPr lang="en-KE"/>
          </a:p>
        </p:txBody>
      </p:sp>
      <p:sp>
        <p:nvSpPr>
          <p:cNvPr id="12" name="Rectangle 11"/>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158920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447" y="1"/>
            <a:ext cx="11113947" cy="578149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2693" y="893741"/>
            <a:ext cx="8051006" cy="1155700"/>
          </a:xfrm>
          <a:prstGeom prst="rect">
            <a:avLst/>
          </a:prstGeom>
        </p:spPr>
        <p:txBody>
          <a:bodyPr anchor="ctr" anchorCtr="0"/>
          <a:lstStyle>
            <a:lvl1pPr>
              <a:defRPr sz="3370"/>
            </a:lvl1pPr>
          </a:lstStyle>
          <a:p>
            <a:r>
              <a:rPr lang="en-US"/>
              <a:t>Click to edit Master title style</a:t>
            </a:r>
            <a:endParaRPr lang="en-US" dirty="0"/>
          </a:p>
        </p:txBody>
      </p:sp>
      <p:sp>
        <p:nvSpPr>
          <p:cNvPr id="8" name="Text Placeholder 3"/>
          <p:cNvSpPr>
            <a:spLocks noGrp="1"/>
          </p:cNvSpPr>
          <p:nvPr>
            <p:ph type="body" sz="half" idx="2"/>
          </p:nvPr>
        </p:nvSpPr>
        <p:spPr>
          <a:xfrm>
            <a:off x="1050132" y="2989410"/>
            <a:ext cx="8044220" cy="2087965"/>
          </a:xfrm>
        </p:spPr>
        <p:txBody>
          <a:bodyPr anchor="ctr">
            <a:normAutofit/>
          </a:bodyPr>
          <a:lstStyle>
            <a:lvl1pPr marL="0" indent="0">
              <a:buNone/>
              <a:defRPr sz="1517"/>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p>
            <a:endParaRPr lang="en-KE"/>
          </a:p>
        </p:txBody>
      </p:sp>
      <p:sp>
        <p:nvSpPr>
          <p:cNvPr id="11" name="Rectangle 10"/>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717804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447" y="1"/>
            <a:ext cx="11113947" cy="578149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18759" y="502832"/>
            <a:ext cx="730909" cy="133716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89" dirty="0">
                <a:solidFill>
                  <a:schemeClr val="tx2">
                    <a:lumMod val="40000"/>
                    <a:lumOff val="60000"/>
                  </a:schemeClr>
                </a:solidFill>
              </a:rPr>
              <a:t>“</a:t>
            </a:r>
          </a:p>
        </p:txBody>
      </p:sp>
      <p:sp>
        <p:nvSpPr>
          <p:cNvPr id="15" name="TextBox 14"/>
          <p:cNvSpPr txBox="1"/>
          <p:nvPr/>
        </p:nvSpPr>
        <p:spPr bwMode="gray">
          <a:xfrm>
            <a:off x="8854875" y="2215429"/>
            <a:ext cx="730909" cy="133716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89" dirty="0">
                <a:solidFill>
                  <a:schemeClr val="tx2">
                    <a:lumMod val="40000"/>
                    <a:lumOff val="60000"/>
                  </a:schemeClr>
                </a:solidFill>
              </a:rPr>
              <a:t>”</a:t>
            </a:r>
          </a:p>
        </p:txBody>
      </p:sp>
      <p:sp>
        <p:nvSpPr>
          <p:cNvPr id="2" name="Title 1"/>
          <p:cNvSpPr>
            <a:spLocks noGrp="1"/>
          </p:cNvSpPr>
          <p:nvPr>
            <p:ph type="title"/>
          </p:nvPr>
        </p:nvSpPr>
        <p:spPr>
          <a:xfrm>
            <a:off x="1435366" y="826177"/>
            <a:ext cx="7711833" cy="2273525"/>
          </a:xfrm>
          <a:prstGeom prst="rect">
            <a:avLst/>
          </a:prstGeom>
        </p:spPr>
        <p:txBody>
          <a:bodyPr anchor="ctr" anchorCtr="0"/>
          <a:lstStyle>
            <a:lvl1pPr>
              <a:defRPr sz="337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773648" y="3100730"/>
            <a:ext cx="7041719" cy="288313"/>
          </a:xfrm>
        </p:spPr>
        <p:txBody>
          <a:bodyPr vert="horz" lIns="91440" tIns="45720" rIns="91440" bIns="45720" rtlCol="0" anchor="t">
            <a:normAutofit/>
          </a:bodyPr>
          <a:lstStyle>
            <a:lvl1pPr>
              <a:buNone/>
              <a:defRPr lang="en-US" sz="118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052693" y="4237565"/>
            <a:ext cx="8044220" cy="840788"/>
          </a:xfrm>
        </p:spPr>
        <p:txBody>
          <a:bodyPr anchor="ctr">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p>
            <a:endParaRPr lang="en-KE"/>
          </a:p>
        </p:txBody>
      </p:sp>
      <p:sp>
        <p:nvSpPr>
          <p:cNvPr id="23" name="Rectangle 22"/>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1878976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447" y="1"/>
            <a:ext cx="11113947" cy="578149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052693" y="1999914"/>
            <a:ext cx="8080646" cy="1533229"/>
          </a:xfrm>
          <a:prstGeom prst="rect">
            <a:avLst/>
          </a:prstGeom>
        </p:spPr>
        <p:txBody>
          <a:bodyPr anchor="b"/>
          <a:lstStyle>
            <a:lvl1pPr algn="l">
              <a:defRPr sz="3370" b="0" cap="none"/>
            </a:lvl1pPr>
          </a:lstStyle>
          <a:p>
            <a:r>
              <a:rPr lang="en-US"/>
              <a:t>Click to edit Master title style</a:t>
            </a:r>
            <a:endParaRPr lang="en-US" dirty="0"/>
          </a:p>
        </p:txBody>
      </p:sp>
      <p:sp>
        <p:nvSpPr>
          <p:cNvPr id="3" name="Text Placeholder 2"/>
          <p:cNvSpPr>
            <a:spLocks noGrp="1"/>
          </p:cNvSpPr>
          <p:nvPr>
            <p:ph type="body" idx="1"/>
          </p:nvPr>
        </p:nvSpPr>
        <p:spPr>
          <a:xfrm>
            <a:off x="1052693" y="4237567"/>
            <a:ext cx="8044220" cy="724967"/>
          </a:xfrm>
        </p:spPr>
        <p:txBody>
          <a:bodyPr anchor="t"/>
          <a:lstStyle>
            <a:lvl1pPr marL="0" indent="0" algn="l">
              <a:buNone/>
              <a:defRPr sz="1685" cap="none">
                <a:solidFill>
                  <a:schemeClr val="accent1"/>
                </a:solidFill>
              </a:defRPr>
            </a:lvl1pPr>
            <a:lvl2pPr marL="385237" indent="0">
              <a:buNone/>
              <a:defRPr sz="1517">
                <a:solidFill>
                  <a:schemeClr val="tx1">
                    <a:tint val="75000"/>
                  </a:schemeClr>
                </a:solidFill>
              </a:defRPr>
            </a:lvl2pPr>
            <a:lvl3pPr marL="770473" indent="0">
              <a:buNone/>
              <a:defRPr sz="1348">
                <a:solidFill>
                  <a:schemeClr val="tx1">
                    <a:tint val="75000"/>
                  </a:schemeClr>
                </a:solidFill>
              </a:defRPr>
            </a:lvl3pPr>
            <a:lvl4pPr marL="1155710" indent="0">
              <a:buNone/>
              <a:defRPr sz="1180">
                <a:solidFill>
                  <a:schemeClr val="tx1">
                    <a:tint val="75000"/>
                  </a:schemeClr>
                </a:solidFill>
              </a:defRPr>
            </a:lvl4pPr>
            <a:lvl5pPr marL="1540947" indent="0">
              <a:buNone/>
              <a:defRPr sz="1180">
                <a:solidFill>
                  <a:schemeClr val="tx1">
                    <a:tint val="75000"/>
                  </a:schemeClr>
                </a:solidFill>
              </a:defRPr>
            </a:lvl5pPr>
            <a:lvl6pPr marL="1926184" indent="0">
              <a:buNone/>
              <a:defRPr sz="1180">
                <a:solidFill>
                  <a:schemeClr val="tx1">
                    <a:tint val="75000"/>
                  </a:schemeClr>
                </a:solidFill>
              </a:defRPr>
            </a:lvl6pPr>
            <a:lvl7pPr marL="2311420" indent="0">
              <a:buNone/>
              <a:defRPr sz="1180">
                <a:solidFill>
                  <a:schemeClr val="tx1">
                    <a:tint val="75000"/>
                  </a:schemeClr>
                </a:solidFill>
              </a:defRPr>
            </a:lvl7pPr>
            <a:lvl8pPr marL="2696657" indent="0">
              <a:buNone/>
              <a:defRPr sz="1180">
                <a:solidFill>
                  <a:schemeClr val="tx1">
                    <a:tint val="75000"/>
                  </a:schemeClr>
                </a:solidFill>
              </a:defRPr>
            </a:lvl8pPr>
            <a:lvl9pPr marL="3081894" indent="0">
              <a:buNone/>
              <a:defRPr sz="11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p>
            <a:endParaRPr lang="en-KE"/>
          </a:p>
        </p:txBody>
      </p:sp>
      <p:sp>
        <p:nvSpPr>
          <p:cNvPr id="10" name="Rectangle 9"/>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2951463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052693" y="820405"/>
            <a:ext cx="8044220" cy="595683"/>
          </a:xfrm>
          <a:prstGeom prst="rect">
            <a:avLst/>
          </a:prstGeom>
        </p:spPr>
        <p:txBody>
          <a:bodyPr/>
          <a:lstStyle>
            <a:lvl1pPr>
              <a:defRPr sz="3033"/>
            </a:lvl1pPr>
          </a:lstStyle>
          <a:p>
            <a:r>
              <a:rPr lang="en-US"/>
              <a:t>Click to edit Master title style</a:t>
            </a:r>
            <a:endParaRPr lang="en-US" dirty="0"/>
          </a:p>
        </p:txBody>
      </p:sp>
      <p:sp>
        <p:nvSpPr>
          <p:cNvPr id="3" name="Text Placeholder 2"/>
          <p:cNvSpPr>
            <a:spLocks noGrp="1"/>
          </p:cNvSpPr>
          <p:nvPr>
            <p:ph type="body" idx="1"/>
          </p:nvPr>
        </p:nvSpPr>
        <p:spPr>
          <a:xfrm>
            <a:off x="1052693" y="2193690"/>
            <a:ext cx="2852106" cy="485553"/>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16" name="Text Placeholder 3"/>
          <p:cNvSpPr>
            <a:spLocks noGrp="1"/>
          </p:cNvSpPr>
          <p:nvPr>
            <p:ph type="body" sz="half" idx="15"/>
          </p:nvPr>
        </p:nvSpPr>
        <p:spPr>
          <a:xfrm>
            <a:off x="1052693" y="2679246"/>
            <a:ext cx="2852106" cy="2399105"/>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5" name="Text Placeholder 4"/>
          <p:cNvSpPr>
            <a:spLocks noGrp="1"/>
          </p:cNvSpPr>
          <p:nvPr>
            <p:ph type="body" sz="quarter" idx="3"/>
          </p:nvPr>
        </p:nvSpPr>
        <p:spPr>
          <a:xfrm>
            <a:off x="4113157" y="2193690"/>
            <a:ext cx="2866883" cy="485553"/>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19" name="Text Placeholder 3"/>
          <p:cNvSpPr>
            <a:spLocks noGrp="1"/>
          </p:cNvSpPr>
          <p:nvPr>
            <p:ph type="body" sz="half" idx="16"/>
          </p:nvPr>
        </p:nvSpPr>
        <p:spPr>
          <a:xfrm>
            <a:off x="4113157" y="2679246"/>
            <a:ext cx="2866883" cy="2399105"/>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14" name="Text Placeholder 4"/>
          <p:cNvSpPr>
            <a:spLocks noGrp="1"/>
          </p:cNvSpPr>
          <p:nvPr>
            <p:ph type="body" sz="quarter" idx="13"/>
          </p:nvPr>
        </p:nvSpPr>
        <p:spPr>
          <a:xfrm>
            <a:off x="7188399" y="2186555"/>
            <a:ext cx="2881146" cy="492691"/>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20" name="Text Placeholder 3"/>
          <p:cNvSpPr>
            <a:spLocks noGrp="1"/>
          </p:cNvSpPr>
          <p:nvPr>
            <p:ph type="body" sz="half" idx="17"/>
          </p:nvPr>
        </p:nvSpPr>
        <p:spPr>
          <a:xfrm>
            <a:off x="7188399" y="2679246"/>
            <a:ext cx="2881146" cy="2399105"/>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cxnSp>
        <p:nvCxnSpPr>
          <p:cNvPr id="17" name="Straight Connector 16"/>
          <p:cNvCxnSpPr/>
          <p:nvPr/>
        </p:nvCxnSpPr>
        <p:spPr>
          <a:xfrm>
            <a:off x="3996736" y="2193690"/>
            <a:ext cx="29681" cy="288466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87340" y="2193690"/>
            <a:ext cx="0" cy="288466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1EC8733-C3F3-46A6-82BD-071FBEE0881A}" type="datetimeFigureOut">
              <a:rPr lang="en-KE" smtClean="0"/>
              <a:t>14/09/2024</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2205221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052693" y="820405"/>
            <a:ext cx="8044220" cy="595683"/>
          </a:xfrm>
          <a:prstGeom prst="rect">
            <a:avLst/>
          </a:prstGeom>
        </p:spPr>
        <p:txBody>
          <a:bodyPr anchor="ctr" anchorCtr="0"/>
          <a:lstStyle>
            <a:lvl1pPr>
              <a:defRPr sz="3033"/>
            </a:lvl1pPr>
          </a:lstStyle>
          <a:p>
            <a:r>
              <a:rPr lang="en-US"/>
              <a:t>Click to edit Master title style</a:t>
            </a:r>
            <a:endParaRPr lang="en-US" dirty="0"/>
          </a:p>
        </p:txBody>
      </p:sp>
      <p:sp>
        <p:nvSpPr>
          <p:cNvPr id="3" name="Text Placeholder 2"/>
          <p:cNvSpPr>
            <a:spLocks noGrp="1"/>
          </p:cNvSpPr>
          <p:nvPr>
            <p:ph type="body" idx="1"/>
          </p:nvPr>
        </p:nvSpPr>
        <p:spPr>
          <a:xfrm>
            <a:off x="1052693" y="3819342"/>
            <a:ext cx="2780347" cy="485552"/>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29" name="Picture Placeholder 2"/>
          <p:cNvSpPr>
            <a:spLocks noGrp="1" noChangeAspect="1"/>
          </p:cNvSpPr>
          <p:nvPr>
            <p:ph type="pic" idx="15"/>
          </p:nvPr>
        </p:nvSpPr>
        <p:spPr>
          <a:xfrm>
            <a:off x="1216389" y="2199938"/>
            <a:ext cx="2452955" cy="133474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48"/>
            </a:lvl1pPr>
            <a:lvl2pPr marL="385237" indent="0">
              <a:buNone/>
              <a:defRPr sz="1348"/>
            </a:lvl2pPr>
            <a:lvl3pPr marL="770473" indent="0">
              <a:buNone/>
              <a:defRPr sz="1348"/>
            </a:lvl3pPr>
            <a:lvl4pPr marL="1155710" indent="0">
              <a:buNone/>
              <a:defRPr sz="1348"/>
            </a:lvl4pPr>
            <a:lvl5pPr marL="1540947" indent="0">
              <a:buNone/>
              <a:defRPr sz="1348"/>
            </a:lvl5pPr>
            <a:lvl6pPr marL="1926184" indent="0">
              <a:buNone/>
              <a:defRPr sz="1348"/>
            </a:lvl6pPr>
            <a:lvl7pPr marL="2311420" indent="0">
              <a:buNone/>
              <a:defRPr sz="1348"/>
            </a:lvl7pPr>
            <a:lvl8pPr marL="2696657" indent="0">
              <a:buNone/>
              <a:defRPr sz="1348"/>
            </a:lvl8pPr>
            <a:lvl9pPr marL="3081894" indent="0">
              <a:buNone/>
              <a:defRPr sz="1348"/>
            </a:lvl9pPr>
          </a:lstStyle>
          <a:p>
            <a:r>
              <a:rPr lang="en-US"/>
              <a:t>Click icon to add picture</a:t>
            </a:r>
            <a:endParaRPr lang="en-US" dirty="0"/>
          </a:p>
        </p:txBody>
      </p:sp>
      <p:sp>
        <p:nvSpPr>
          <p:cNvPr id="22" name="Text Placeholder 3"/>
          <p:cNvSpPr>
            <a:spLocks noGrp="1"/>
          </p:cNvSpPr>
          <p:nvPr>
            <p:ph type="body" sz="half" idx="18"/>
          </p:nvPr>
        </p:nvSpPr>
        <p:spPr>
          <a:xfrm>
            <a:off x="1052693" y="4304896"/>
            <a:ext cx="2780347" cy="773457"/>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5" name="Text Placeholder 4"/>
          <p:cNvSpPr>
            <a:spLocks noGrp="1"/>
          </p:cNvSpPr>
          <p:nvPr>
            <p:ph type="body" sz="quarter" idx="3"/>
          </p:nvPr>
        </p:nvSpPr>
        <p:spPr>
          <a:xfrm>
            <a:off x="4164330" y="3819339"/>
            <a:ext cx="2780347" cy="485554"/>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30" name="Picture Placeholder 2"/>
          <p:cNvSpPr>
            <a:spLocks noGrp="1" noChangeAspect="1"/>
          </p:cNvSpPr>
          <p:nvPr>
            <p:ph type="pic" idx="21"/>
          </p:nvPr>
        </p:nvSpPr>
        <p:spPr>
          <a:xfrm>
            <a:off x="4328026" y="2193690"/>
            <a:ext cx="2452955" cy="134099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48"/>
            </a:lvl1pPr>
            <a:lvl2pPr marL="385237" indent="0">
              <a:buNone/>
              <a:defRPr sz="1348"/>
            </a:lvl2pPr>
            <a:lvl3pPr marL="770473" indent="0">
              <a:buNone/>
              <a:defRPr sz="1348"/>
            </a:lvl3pPr>
            <a:lvl4pPr marL="1155710" indent="0">
              <a:buNone/>
              <a:defRPr sz="1348"/>
            </a:lvl4pPr>
            <a:lvl5pPr marL="1540947" indent="0">
              <a:buNone/>
              <a:defRPr sz="1348"/>
            </a:lvl5pPr>
            <a:lvl6pPr marL="1926184" indent="0">
              <a:buNone/>
              <a:defRPr sz="1348"/>
            </a:lvl6pPr>
            <a:lvl7pPr marL="2311420" indent="0">
              <a:buNone/>
              <a:defRPr sz="1348"/>
            </a:lvl7pPr>
            <a:lvl8pPr marL="2696657" indent="0">
              <a:buNone/>
              <a:defRPr sz="1348"/>
            </a:lvl8pPr>
            <a:lvl9pPr marL="3081894" indent="0">
              <a:buNone/>
              <a:defRPr sz="1348"/>
            </a:lvl9pPr>
          </a:lstStyle>
          <a:p>
            <a:r>
              <a:rPr lang="en-US"/>
              <a:t>Click icon to add picture</a:t>
            </a:r>
            <a:endParaRPr lang="en-US" dirty="0"/>
          </a:p>
        </p:txBody>
      </p:sp>
      <p:sp>
        <p:nvSpPr>
          <p:cNvPr id="23" name="Text Placeholder 3"/>
          <p:cNvSpPr>
            <a:spLocks noGrp="1"/>
          </p:cNvSpPr>
          <p:nvPr>
            <p:ph type="body" sz="half" idx="19"/>
          </p:nvPr>
        </p:nvSpPr>
        <p:spPr>
          <a:xfrm>
            <a:off x="4164330" y="4304897"/>
            <a:ext cx="2780347" cy="768931"/>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sp>
        <p:nvSpPr>
          <p:cNvPr id="14" name="Text Placeholder 4"/>
          <p:cNvSpPr>
            <a:spLocks noGrp="1"/>
          </p:cNvSpPr>
          <p:nvPr>
            <p:ph type="body" sz="quarter" idx="13"/>
          </p:nvPr>
        </p:nvSpPr>
        <p:spPr>
          <a:xfrm>
            <a:off x="7276567" y="3819339"/>
            <a:ext cx="2780347" cy="485554"/>
          </a:xfrm>
        </p:spPr>
        <p:txBody>
          <a:bodyPr anchor="b">
            <a:noAutofit/>
          </a:bodyPr>
          <a:lstStyle>
            <a:lvl1pPr marL="0" indent="0">
              <a:buNone/>
              <a:defRPr sz="2022" b="0">
                <a:solidFill>
                  <a:schemeClr val="accent1"/>
                </a:solidFill>
              </a:defRPr>
            </a:lvl1pPr>
            <a:lvl2pPr marL="385237" indent="0">
              <a:buNone/>
              <a:defRPr sz="1685" b="1"/>
            </a:lvl2pPr>
            <a:lvl3pPr marL="770473" indent="0">
              <a:buNone/>
              <a:defRPr sz="1517" b="1"/>
            </a:lvl3pPr>
            <a:lvl4pPr marL="1155710" indent="0">
              <a:buNone/>
              <a:defRPr sz="1348" b="1"/>
            </a:lvl4pPr>
            <a:lvl5pPr marL="1540947" indent="0">
              <a:buNone/>
              <a:defRPr sz="1348" b="1"/>
            </a:lvl5pPr>
            <a:lvl6pPr marL="1926184" indent="0">
              <a:buNone/>
              <a:defRPr sz="1348" b="1"/>
            </a:lvl6pPr>
            <a:lvl7pPr marL="2311420" indent="0">
              <a:buNone/>
              <a:defRPr sz="1348" b="1"/>
            </a:lvl7pPr>
            <a:lvl8pPr marL="2696657" indent="0">
              <a:buNone/>
              <a:defRPr sz="1348" b="1"/>
            </a:lvl8pPr>
            <a:lvl9pPr marL="3081894" indent="0">
              <a:buNone/>
              <a:defRPr sz="1348" b="1"/>
            </a:lvl9pPr>
          </a:lstStyle>
          <a:p>
            <a:pPr lvl="0"/>
            <a:r>
              <a:rPr lang="en-US"/>
              <a:t>Click to edit Master text styles</a:t>
            </a:r>
          </a:p>
        </p:txBody>
      </p:sp>
      <p:sp>
        <p:nvSpPr>
          <p:cNvPr id="31" name="Picture Placeholder 2"/>
          <p:cNvSpPr>
            <a:spLocks noGrp="1" noChangeAspect="1"/>
          </p:cNvSpPr>
          <p:nvPr>
            <p:ph type="pic" idx="22"/>
          </p:nvPr>
        </p:nvSpPr>
        <p:spPr>
          <a:xfrm>
            <a:off x="7440263" y="2193690"/>
            <a:ext cx="2452955" cy="134099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348"/>
            </a:lvl1pPr>
            <a:lvl2pPr marL="385237" indent="0">
              <a:buNone/>
              <a:defRPr sz="1348"/>
            </a:lvl2pPr>
            <a:lvl3pPr marL="770473" indent="0">
              <a:buNone/>
              <a:defRPr sz="1348"/>
            </a:lvl3pPr>
            <a:lvl4pPr marL="1155710" indent="0">
              <a:buNone/>
              <a:defRPr sz="1348"/>
            </a:lvl4pPr>
            <a:lvl5pPr marL="1540947" indent="0">
              <a:buNone/>
              <a:defRPr sz="1348"/>
            </a:lvl5pPr>
            <a:lvl6pPr marL="1926184" indent="0">
              <a:buNone/>
              <a:defRPr sz="1348"/>
            </a:lvl6pPr>
            <a:lvl7pPr marL="2311420" indent="0">
              <a:buNone/>
              <a:defRPr sz="1348"/>
            </a:lvl7pPr>
            <a:lvl8pPr marL="2696657" indent="0">
              <a:buNone/>
              <a:defRPr sz="1348"/>
            </a:lvl8pPr>
            <a:lvl9pPr marL="3081894" indent="0">
              <a:buNone/>
              <a:defRPr sz="1348"/>
            </a:lvl9pPr>
          </a:lstStyle>
          <a:p>
            <a:r>
              <a:rPr lang="en-US"/>
              <a:t>Click icon to add picture</a:t>
            </a:r>
            <a:endParaRPr lang="en-US" dirty="0"/>
          </a:p>
        </p:txBody>
      </p:sp>
      <p:sp>
        <p:nvSpPr>
          <p:cNvPr id="24" name="Text Placeholder 3"/>
          <p:cNvSpPr>
            <a:spLocks noGrp="1"/>
          </p:cNvSpPr>
          <p:nvPr>
            <p:ph type="body" sz="half" idx="20"/>
          </p:nvPr>
        </p:nvSpPr>
        <p:spPr>
          <a:xfrm>
            <a:off x="7276567" y="4304896"/>
            <a:ext cx="2780347" cy="773455"/>
          </a:xfrm>
        </p:spPr>
        <p:txBody>
          <a:bodyPr anchor="t">
            <a:normAutofit/>
          </a:bodyPr>
          <a:lstStyle>
            <a:lvl1pPr marL="0" indent="0">
              <a:buNone/>
              <a:defRPr sz="1180"/>
            </a:lvl1pPr>
            <a:lvl2pPr marL="385237" indent="0">
              <a:buNone/>
              <a:defRPr sz="1011"/>
            </a:lvl2pPr>
            <a:lvl3pPr marL="770473" indent="0">
              <a:buNone/>
              <a:defRPr sz="843"/>
            </a:lvl3pPr>
            <a:lvl4pPr marL="1155710" indent="0">
              <a:buNone/>
              <a:defRPr sz="758"/>
            </a:lvl4pPr>
            <a:lvl5pPr marL="1540947" indent="0">
              <a:buNone/>
              <a:defRPr sz="758"/>
            </a:lvl5pPr>
            <a:lvl6pPr marL="1926184" indent="0">
              <a:buNone/>
              <a:defRPr sz="758"/>
            </a:lvl6pPr>
            <a:lvl7pPr marL="2311420" indent="0">
              <a:buNone/>
              <a:defRPr sz="758"/>
            </a:lvl7pPr>
            <a:lvl8pPr marL="2696657" indent="0">
              <a:buNone/>
              <a:defRPr sz="758"/>
            </a:lvl8pPr>
            <a:lvl9pPr marL="3081894" indent="0">
              <a:buNone/>
              <a:defRPr sz="758"/>
            </a:lvl9pPr>
          </a:lstStyle>
          <a:p>
            <a:pPr lvl="0"/>
            <a:r>
              <a:rPr lang="en-US"/>
              <a:t>Click to edit Master text styles</a:t>
            </a:r>
          </a:p>
        </p:txBody>
      </p:sp>
      <p:cxnSp>
        <p:nvCxnSpPr>
          <p:cNvPr id="17" name="Straight Connector 16"/>
          <p:cNvCxnSpPr/>
          <p:nvPr/>
        </p:nvCxnSpPr>
        <p:spPr>
          <a:xfrm>
            <a:off x="3996057" y="2193690"/>
            <a:ext cx="1" cy="291689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116076" y="2193690"/>
            <a:ext cx="0" cy="291689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1EC8733-C3F3-46A6-82BD-071FBEE0881A}" type="datetimeFigureOut">
              <a:rPr lang="en-KE" smtClean="0"/>
              <a:t>14/09/2024</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711040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52693" y="820405"/>
            <a:ext cx="8044220" cy="59568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52693" y="2186556"/>
            <a:ext cx="8044220" cy="2885684"/>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294341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447" y="1"/>
            <a:ext cx="11113947" cy="578149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7817356" y="1077226"/>
            <a:ext cx="1313928" cy="4001128"/>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052693" y="1077225"/>
            <a:ext cx="5702106" cy="40011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EC8733-C3F3-46A6-82BD-071FBEE0881A}" type="datetimeFigureOut">
              <a:rPr lang="en-KE" smtClean="0"/>
              <a:t>14/09/2024</a:t>
            </a:fld>
            <a:endParaRPr lang="en-KE"/>
          </a:p>
        </p:txBody>
      </p:sp>
      <p:sp>
        <p:nvSpPr>
          <p:cNvPr id="5" name="Footer Placeholder 4"/>
          <p:cNvSpPr>
            <a:spLocks noGrp="1"/>
          </p:cNvSpPr>
          <p:nvPr>
            <p:ph type="ftr" sz="quarter" idx="11"/>
          </p:nvPr>
        </p:nvSpPr>
        <p:spPr/>
        <p:txBody>
          <a:bodyPr/>
          <a:lstStyle/>
          <a:p>
            <a:endParaRPr lang="en-KE"/>
          </a:p>
        </p:txBody>
      </p:sp>
      <p:sp>
        <p:nvSpPr>
          <p:cNvPr id="20" name="Rectangle 19"/>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2773C48-BA73-40A6-AC9F-719E1CC0CF0E}" type="slidenum">
              <a:rPr lang="en-KE" smtClean="0"/>
              <a:t>‹#›</a:t>
            </a:fld>
            <a:endParaRPr lang="en-KE"/>
          </a:p>
        </p:txBody>
      </p:sp>
    </p:spTree>
    <p:extLst>
      <p:ext uri="{BB962C8B-B14F-4D97-AF65-F5344CB8AC3E}">
        <p14:creationId xmlns:p14="http://schemas.microsoft.com/office/powerpoint/2010/main" val="3170945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447" y="1"/>
            <a:ext cx="11113947" cy="578149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052693" y="820405"/>
            <a:ext cx="7985663" cy="59568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052693" y="2193690"/>
            <a:ext cx="7985663" cy="28785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09547" y="5385563"/>
            <a:ext cx="902890" cy="256821"/>
          </a:xfrm>
          <a:prstGeom prst="rect">
            <a:avLst/>
          </a:prstGeom>
        </p:spPr>
        <p:txBody>
          <a:bodyPr vert="horz" lIns="91440" tIns="45720" rIns="91440" bIns="45720" rtlCol="0" anchor="ctr" anchorCtr="0"/>
          <a:lstStyle>
            <a:lvl1pPr algn="r">
              <a:defRPr sz="843" b="1" i="0">
                <a:solidFill>
                  <a:schemeClr val="accent1"/>
                </a:solidFill>
              </a:defRPr>
            </a:lvl1pPr>
          </a:lstStyle>
          <a:p>
            <a:fld id="{81EC8733-C3F3-46A6-82BD-071FBEE0881A}" type="datetimeFigureOut">
              <a:rPr lang="en-KE" smtClean="0"/>
              <a:t>14/09/2024</a:t>
            </a:fld>
            <a:endParaRPr lang="en-KE"/>
          </a:p>
        </p:txBody>
      </p:sp>
      <p:sp>
        <p:nvSpPr>
          <p:cNvPr id="5" name="Footer Placeholder 4"/>
          <p:cNvSpPr>
            <a:spLocks noGrp="1"/>
          </p:cNvSpPr>
          <p:nvPr>
            <p:ph type="ftr" sz="quarter" idx="3"/>
          </p:nvPr>
        </p:nvSpPr>
        <p:spPr>
          <a:xfrm>
            <a:off x="508397" y="5385562"/>
            <a:ext cx="3525441" cy="261959"/>
          </a:xfrm>
          <a:prstGeom prst="rect">
            <a:avLst/>
          </a:prstGeom>
        </p:spPr>
        <p:txBody>
          <a:bodyPr vert="horz" lIns="91440" tIns="45720" rIns="91440" bIns="45720" rtlCol="0" anchor="ctr" anchorCtr="0"/>
          <a:lstStyle>
            <a:lvl1pPr algn="l">
              <a:defRPr sz="843" b="1" i="0">
                <a:solidFill>
                  <a:schemeClr val="accent1"/>
                </a:solidFill>
              </a:defRPr>
            </a:lvl1pPr>
          </a:lstStyle>
          <a:p>
            <a:endParaRPr lang="en-KE"/>
          </a:p>
        </p:txBody>
      </p:sp>
      <p:sp>
        <p:nvSpPr>
          <p:cNvPr id="29" name="Rectangle 28"/>
          <p:cNvSpPr/>
          <p:nvPr/>
        </p:nvSpPr>
        <p:spPr>
          <a:xfrm>
            <a:off x="9513631"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9435910" y="249180"/>
            <a:ext cx="763983" cy="646847"/>
          </a:xfrm>
          <a:prstGeom prst="rect">
            <a:avLst/>
          </a:prstGeom>
        </p:spPr>
        <p:txBody>
          <a:bodyPr vert="horz" lIns="91440" tIns="45720" rIns="91440" bIns="45720" rtlCol="0" anchor="b"/>
          <a:lstStyle>
            <a:lvl1pPr algn="ctr">
              <a:defRPr sz="2359" b="0" i="0">
                <a:solidFill>
                  <a:schemeClr val="bg1"/>
                </a:solidFill>
              </a:defRPr>
            </a:lvl1pPr>
          </a:lstStyle>
          <a:p>
            <a:fld id="{A2773C48-BA73-40A6-AC9F-719E1CC0CF0E}" type="slidenum">
              <a:rPr lang="en-KE" smtClean="0"/>
              <a:t>‹#›</a:t>
            </a:fld>
            <a:endParaRPr lang="en-KE"/>
          </a:p>
        </p:txBody>
      </p:sp>
    </p:spTree>
    <p:extLst>
      <p:ext uri="{BB962C8B-B14F-4D97-AF65-F5344CB8AC3E}">
        <p14:creationId xmlns:p14="http://schemas.microsoft.com/office/powerpoint/2010/main" val="2037618479"/>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p:txStyles>
    <p:titleStyle>
      <a:lvl1pPr algn="l" defTabSz="385237" rtl="0" eaLnBrk="1" latinLnBrk="0" hangingPunct="1">
        <a:spcBef>
          <a:spcPct val="0"/>
        </a:spcBef>
        <a:buNone/>
        <a:defRPr sz="3033"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8928" indent="-288928" algn="l" defTabSz="385237" rtl="0" eaLnBrk="1" latinLnBrk="0" hangingPunct="1">
        <a:spcBef>
          <a:spcPts val="843"/>
        </a:spcBef>
        <a:spcAft>
          <a:spcPts val="0"/>
        </a:spcAft>
        <a:buClr>
          <a:schemeClr val="accent1"/>
        </a:buClr>
        <a:buSzPct val="80000"/>
        <a:buFont typeface="Wingdings 3" charset="2"/>
        <a:buChar char=""/>
        <a:defRPr sz="1517" b="0" i="0" kern="1200">
          <a:solidFill>
            <a:schemeClr val="tx1">
              <a:lumMod val="75000"/>
              <a:lumOff val="25000"/>
            </a:schemeClr>
          </a:solidFill>
          <a:latin typeface="+mn-lt"/>
          <a:ea typeface="+mn-ea"/>
          <a:cs typeface="+mn-cs"/>
        </a:defRPr>
      </a:lvl1pPr>
      <a:lvl2pPr marL="626010" indent="-240773" algn="l" defTabSz="385237" rtl="0" eaLnBrk="1" latinLnBrk="0" hangingPunct="1">
        <a:spcBef>
          <a:spcPts val="843"/>
        </a:spcBef>
        <a:spcAft>
          <a:spcPts val="0"/>
        </a:spcAft>
        <a:buClr>
          <a:schemeClr val="accent1"/>
        </a:buClr>
        <a:buSzPct val="80000"/>
        <a:buFont typeface="Wingdings 3" charset="2"/>
        <a:buChar char=""/>
        <a:defRPr sz="1348" b="0" i="0" kern="1200">
          <a:solidFill>
            <a:schemeClr val="tx1">
              <a:lumMod val="75000"/>
              <a:lumOff val="25000"/>
            </a:schemeClr>
          </a:solidFill>
          <a:latin typeface="+mn-lt"/>
          <a:ea typeface="+mn-ea"/>
          <a:cs typeface="+mn-cs"/>
        </a:defRPr>
      </a:lvl2pPr>
      <a:lvl3pPr marL="963092" indent="-192618" algn="l" defTabSz="385237" rtl="0" eaLnBrk="1" latinLnBrk="0" hangingPunct="1">
        <a:spcBef>
          <a:spcPts val="843"/>
        </a:spcBef>
        <a:spcAft>
          <a:spcPts val="0"/>
        </a:spcAft>
        <a:buClr>
          <a:schemeClr val="accent1"/>
        </a:buClr>
        <a:buSzPct val="80000"/>
        <a:buFont typeface="Wingdings 3" charset="2"/>
        <a:buChar char=""/>
        <a:defRPr sz="1180" b="0" i="0" kern="1200">
          <a:solidFill>
            <a:schemeClr val="tx1">
              <a:lumMod val="75000"/>
              <a:lumOff val="25000"/>
            </a:schemeClr>
          </a:solidFill>
          <a:latin typeface="+mn-lt"/>
          <a:ea typeface="+mn-ea"/>
          <a:cs typeface="+mn-cs"/>
        </a:defRPr>
      </a:lvl3pPr>
      <a:lvl4pPr marL="1348329"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4pPr>
      <a:lvl5pPr marL="1733565"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5pPr>
      <a:lvl6pPr marL="2118802"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6pPr>
      <a:lvl7pPr marL="2504039"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7pPr>
      <a:lvl8pPr marL="2889275"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8pPr>
      <a:lvl9pPr marL="3274512" indent="-192618" algn="l" defTabSz="385237" rtl="0" eaLnBrk="1" latinLnBrk="0" hangingPunct="1">
        <a:spcBef>
          <a:spcPts val="843"/>
        </a:spcBef>
        <a:spcAft>
          <a:spcPts val="0"/>
        </a:spcAft>
        <a:buClr>
          <a:schemeClr val="accent1"/>
        </a:buClr>
        <a:buSzPct val="80000"/>
        <a:buFont typeface="Wingdings 3" charset="2"/>
        <a:buChar char=""/>
        <a:defRPr sz="1011" b="0" i="0" kern="1200">
          <a:solidFill>
            <a:schemeClr val="tx1">
              <a:lumMod val="75000"/>
              <a:lumOff val="25000"/>
            </a:schemeClr>
          </a:solidFill>
          <a:latin typeface="+mn-lt"/>
          <a:ea typeface="+mn-ea"/>
          <a:cs typeface="+mn-cs"/>
        </a:defRPr>
      </a:lvl9pPr>
    </p:bodyStyle>
    <p:otherStyle>
      <a:defPPr>
        <a:defRPr lang="en-US"/>
      </a:defPPr>
      <a:lvl1pPr marL="0" algn="l" defTabSz="385237" rtl="0" eaLnBrk="1" latinLnBrk="0" hangingPunct="1">
        <a:defRPr sz="1517" kern="1200">
          <a:solidFill>
            <a:schemeClr val="tx1"/>
          </a:solidFill>
          <a:latin typeface="+mn-lt"/>
          <a:ea typeface="+mn-ea"/>
          <a:cs typeface="+mn-cs"/>
        </a:defRPr>
      </a:lvl1pPr>
      <a:lvl2pPr marL="385237" algn="l" defTabSz="385237" rtl="0" eaLnBrk="1" latinLnBrk="0" hangingPunct="1">
        <a:defRPr sz="1517" kern="1200">
          <a:solidFill>
            <a:schemeClr val="tx1"/>
          </a:solidFill>
          <a:latin typeface="+mn-lt"/>
          <a:ea typeface="+mn-ea"/>
          <a:cs typeface="+mn-cs"/>
        </a:defRPr>
      </a:lvl2pPr>
      <a:lvl3pPr marL="770473" algn="l" defTabSz="385237" rtl="0" eaLnBrk="1" latinLnBrk="0" hangingPunct="1">
        <a:defRPr sz="1517" kern="1200">
          <a:solidFill>
            <a:schemeClr val="tx1"/>
          </a:solidFill>
          <a:latin typeface="+mn-lt"/>
          <a:ea typeface="+mn-ea"/>
          <a:cs typeface="+mn-cs"/>
        </a:defRPr>
      </a:lvl3pPr>
      <a:lvl4pPr marL="1155710" algn="l" defTabSz="385237" rtl="0" eaLnBrk="1" latinLnBrk="0" hangingPunct="1">
        <a:defRPr sz="1517" kern="1200">
          <a:solidFill>
            <a:schemeClr val="tx1"/>
          </a:solidFill>
          <a:latin typeface="+mn-lt"/>
          <a:ea typeface="+mn-ea"/>
          <a:cs typeface="+mn-cs"/>
        </a:defRPr>
      </a:lvl4pPr>
      <a:lvl5pPr marL="1540947" algn="l" defTabSz="385237" rtl="0" eaLnBrk="1" latinLnBrk="0" hangingPunct="1">
        <a:defRPr sz="1517" kern="1200">
          <a:solidFill>
            <a:schemeClr val="tx1"/>
          </a:solidFill>
          <a:latin typeface="+mn-lt"/>
          <a:ea typeface="+mn-ea"/>
          <a:cs typeface="+mn-cs"/>
        </a:defRPr>
      </a:lvl5pPr>
      <a:lvl6pPr marL="1926184" algn="l" defTabSz="385237" rtl="0" eaLnBrk="1" latinLnBrk="0" hangingPunct="1">
        <a:defRPr sz="1517" kern="1200">
          <a:solidFill>
            <a:schemeClr val="tx1"/>
          </a:solidFill>
          <a:latin typeface="+mn-lt"/>
          <a:ea typeface="+mn-ea"/>
          <a:cs typeface="+mn-cs"/>
        </a:defRPr>
      </a:lvl6pPr>
      <a:lvl7pPr marL="2311420" algn="l" defTabSz="385237" rtl="0" eaLnBrk="1" latinLnBrk="0" hangingPunct="1">
        <a:defRPr sz="1517" kern="1200">
          <a:solidFill>
            <a:schemeClr val="tx1"/>
          </a:solidFill>
          <a:latin typeface="+mn-lt"/>
          <a:ea typeface="+mn-ea"/>
          <a:cs typeface="+mn-cs"/>
        </a:defRPr>
      </a:lvl7pPr>
      <a:lvl8pPr marL="2696657" algn="l" defTabSz="385237" rtl="0" eaLnBrk="1" latinLnBrk="0" hangingPunct="1">
        <a:defRPr sz="1517" kern="1200">
          <a:solidFill>
            <a:schemeClr val="tx1"/>
          </a:solidFill>
          <a:latin typeface="+mn-lt"/>
          <a:ea typeface="+mn-ea"/>
          <a:cs typeface="+mn-cs"/>
        </a:defRPr>
      </a:lvl8pPr>
      <a:lvl9pPr marL="3081894" algn="l" defTabSz="385237" rtl="0" eaLnBrk="1" latinLnBrk="0" hangingPunct="1">
        <a:defRPr sz="15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DEA79-3D2B-C72A-8874-53E3FA4CF03B}"/>
              </a:ext>
            </a:extLst>
          </p:cNvPr>
          <p:cNvSpPr>
            <a:spLocks noGrp="1"/>
          </p:cNvSpPr>
          <p:nvPr>
            <p:ph type="ctrTitle"/>
          </p:nvPr>
        </p:nvSpPr>
        <p:spPr>
          <a:xfrm>
            <a:off x="1052693" y="1219905"/>
            <a:ext cx="6357344" cy="1224037"/>
          </a:xfrm>
        </p:spPr>
        <p:txBody>
          <a:bodyPr>
            <a:normAutofit/>
          </a:bodyPr>
          <a:lstStyle/>
          <a:p>
            <a:r>
              <a:rPr lang="en-US" dirty="0">
                <a:latin typeface="Times New Roman" panose="02020603050405020304" pitchFamily="18" charset="0"/>
                <a:cs typeface="Times New Roman" panose="02020603050405020304" pitchFamily="18" charset="0"/>
              </a:rPr>
              <a:t>Problem Statement</a:t>
            </a:r>
            <a:r>
              <a:rPr lang="en-US" dirty="0"/>
              <a:t>:</a:t>
            </a:r>
            <a:endParaRPr lang="en-KE" dirty="0"/>
          </a:p>
        </p:txBody>
      </p:sp>
      <p:sp>
        <p:nvSpPr>
          <p:cNvPr id="3" name="Subtitle 2">
            <a:extLst>
              <a:ext uri="{FF2B5EF4-FFF2-40B4-BE49-F238E27FC236}">
                <a16:creationId xmlns:a16="http://schemas.microsoft.com/office/drawing/2014/main" id="{19CA5039-BBE8-EED9-3843-1393F9B795EC}"/>
              </a:ext>
            </a:extLst>
          </p:cNvPr>
          <p:cNvSpPr>
            <a:spLocks noGrp="1"/>
          </p:cNvSpPr>
          <p:nvPr>
            <p:ph type="subTitle" idx="1"/>
          </p:nvPr>
        </p:nvSpPr>
        <p:spPr>
          <a:xfrm>
            <a:off x="1052694" y="2443942"/>
            <a:ext cx="6748040" cy="2191120"/>
          </a:xfrm>
        </p:spPr>
        <p:txBody>
          <a:bodyPr>
            <a:noAutofit/>
          </a:bodyPr>
          <a:lstStyle/>
          <a:p>
            <a:pPr>
              <a:lnSpc>
                <a:spcPct val="90000"/>
              </a:lnSpc>
            </a:pPr>
            <a:r>
              <a:rPr lang="en-US" sz="1200" dirty="0">
                <a:solidFill>
                  <a:schemeClr val="bg1">
                    <a:lumMod val="95000"/>
                  </a:schemeClr>
                </a:solidFill>
                <a:latin typeface="Times New Roman" panose="02020603050405020304" pitchFamily="18" charset="0"/>
                <a:cs typeface="Times New Roman" panose="02020603050405020304" pitchFamily="18" charset="0"/>
              </a:rPr>
              <a:t>To develop an optimal supermarket store location recommender system that would be instrumental to the Supermarket exco and planning team in identifying optimal locations for new stores. the objective entails analyzing geographical, demographic and open street data to pinpoint areas with high potential for store expansion based on key factors such as accessibility based on the road network from open street data, market demand based on demographic data and competition based on the competitors present. By leveraging data analysis and visualization techniques such as isochrone maps, choropleths maps, population metrics, and market saturation levels, the recommender system will provide actionable insights that support strategic planning and decision-making for expanding the supermarket’s store network.</a:t>
            </a:r>
          </a:p>
          <a:p>
            <a:pPr>
              <a:lnSpc>
                <a:spcPct val="90000"/>
              </a:lnSpc>
            </a:pPr>
            <a:endParaRPr lang="en-KE" sz="1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035049"/>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15CB4-AC0F-3797-9B15-AA251C388DDB}"/>
              </a:ext>
            </a:extLst>
          </p:cNvPr>
          <p:cNvSpPr>
            <a:spLocks noGrp="1"/>
          </p:cNvSpPr>
          <p:nvPr>
            <p:ph type="title"/>
          </p:nvPr>
        </p:nvSpPr>
        <p:spPr>
          <a:xfrm>
            <a:off x="734813" y="678010"/>
            <a:ext cx="3209572" cy="4422479"/>
          </a:xfrm>
        </p:spPr>
        <p:txBody>
          <a:bodyPr anchor="ctr">
            <a:normAutofit/>
          </a:bodyPr>
          <a:lstStyle/>
          <a:p>
            <a:pPr algn="ctr"/>
            <a:r>
              <a:rPr lang="en-US" dirty="0">
                <a:solidFill>
                  <a:schemeClr val="tx2"/>
                </a:solidFill>
              </a:rPr>
              <a:t>Introduction</a:t>
            </a:r>
            <a:endParaRPr lang="en-KE" dirty="0">
              <a:solidFill>
                <a:schemeClr val="tx2"/>
              </a:solidFill>
            </a:endParaRPr>
          </a:p>
        </p:txBody>
      </p:sp>
      <p:sp>
        <p:nvSpPr>
          <p:cNvPr id="3" name="Content Placeholder 2">
            <a:extLst>
              <a:ext uri="{FF2B5EF4-FFF2-40B4-BE49-F238E27FC236}">
                <a16:creationId xmlns:a16="http://schemas.microsoft.com/office/drawing/2014/main" id="{D02DD471-F8CE-585A-69C1-917D6090A910}"/>
              </a:ext>
            </a:extLst>
          </p:cNvPr>
          <p:cNvSpPr>
            <a:spLocks noGrp="1"/>
          </p:cNvSpPr>
          <p:nvPr>
            <p:ph idx="1"/>
          </p:nvPr>
        </p:nvSpPr>
        <p:spPr>
          <a:xfrm>
            <a:off x="4418911" y="2061275"/>
            <a:ext cx="5833270" cy="3363132"/>
          </a:xfrm>
        </p:spPr>
        <p:txBody>
          <a:bodyPr anchor="ctr">
            <a:normAutofit/>
          </a:bodyPr>
          <a:lstStyle/>
          <a:p>
            <a:r>
              <a:rPr lang="en-US" dirty="0">
                <a:latin typeface="Times New Roman" panose="02020603050405020304" pitchFamily="18" charset="0"/>
                <a:cs typeface="Times New Roman" panose="02020603050405020304" pitchFamily="18" charset="0"/>
              </a:rPr>
              <a:t>Nairobi is the capital city of Kenya and the most populous city in Kenya, with estimated population of 4,356,024 and an estimated population of 54,341,935 in the whole country.</a:t>
            </a:r>
          </a:p>
          <a:p>
            <a:r>
              <a:rPr lang="en-US" dirty="0">
                <a:latin typeface="Times New Roman" panose="02020603050405020304" pitchFamily="18" charset="0"/>
                <a:cs typeface="Times New Roman" panose="02020603050405020304" pitchFamily="18" charset="0"/>
              </a:rPr>
              <a:t>The city is the main economic hub for the country and the East African region and has many supermarkets, coffee shops, cafes and  hotels. The variety of FMCG are provided by the supermarkets.</a:t>
            </a:r>
          </a:p>
          <a:p>
            <a:r>
              <a:rPr lang="en-US" dirty="0">
                <a:latin typeface="Times New Roman" panose="02020603050405020304" pitchFamily="18" charset="0"/>
                <a:cs typeface="Times New Roman" panose="02020603050405020304" pitchFamily="18" charset="0"/>
              </a:rPr>
              <a:t>Thus, there are many supermarket chains with stores in the various parts of the city and across the country.</a:t>
            </a:r>
          </a:p>
          <a:p>
            <a:r>
              <a:rPr lang="en-US" dirty="0">
                <a:latin typeface="Times New Roman" panose="02020603050405020304" pitchFamily="18" charset="0"/>
                <a:cs typeface="Times New Roman" panose="02020603050405020304" pitchFamily="18" charset="0"/>
              </a:rPr>
              <a:t>Therefore, to open a new store in the capital city or any other part of the country,  selecting the best suitable place for the store is key.</a:t>
            </a:r>
          </a:p>
          <a:p>
            <a:r>
              <a:rPr lang="en-US" dirty="0">
                <a:latin typeface="Times New Roman" panose="02020603050405020304" pitchFamily="18" charset="0"/>
                <a:cs typeface="Times New Roman" panose="02020603050405020304" pitchFamily="18" charset="0"/>
              </a:rPr>
              <a:t>To get the information about this suitable place, optimal store location recommender system will </a:t>
            </a:r>
            <a:r>
              <a:rPr lang="en-US">
                <a:latin typeface="Times New Roman" panose="02020603050405020304" pitchFamily="18" charset="0"/>
                <a:cs typeface="Times New Roman" panose="02020603050405020304" pitchFamily="18" charset="0"/>
              </a:rPr>
              <a:t>be used.</a:t>
            </a:r>
            <a:endParaRPr lang="en-K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770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BB079-65CA-2F6E-FECC-14D04F3F1034}"/>
              </a:ext>
            </a:extLst>
          </p:cNvPr>
          <p:cNvSpPr>
            <a:spLocks noGrp="1"/>
          </p:cNvSpPr>
          <p:nvPr>
            <p:ph type="title"/>
          </p:nvPr>
        </p:nvSpPr>
        <p:spPr>
          <a:xfrm>
            <a:off x="591472" y="530215"/>
            <a:ext cx="8432953" cy="856625"/>
          </a:xfrm>
        </p:spPr>
        <p:txBody>
          <a:bodyPr>
            <a:normAutofit/>
          </a:bodyPr>
          <a:lstStyle/>
          <a:p>
            <a:r>
              <a:rPr lang="en-US" b="1" dirty="0">
                <a:solidFill>
                  <a:srgbClr val="EBEBEB"/>
                </a:solidFill>
              </a:rPr>
              <a:t>questions to be answered</a:t>
            </a:r>
            <a:endParaRPr lang="en-KE" b="1" dirty="0">
              <a:solidFill>
                <a:srgbClr val="EBEBEB"/>
              </a:solidFill>
            </a:endParaRPr>
          </a:p>
        </p:txBody>
      </p:sp>
      <p:graphicFrame>
        <p:nvGraphicFramePr>
          <p:cNvPr id="5" name="Content Placeholder 2">
            <a:extLst>
              <a:ext uri="{FF2B5EF4-FFF2-40B4-BE49-F238E27FC236}">
                <a16:creationId xmlns:a16="http://schemas.microsoft.com/office/drawing/2014/main" id="{61B6C0C6-7EFF-F7E7-5851-10C8A72B121B}"/>
              </a:ext>
            </a:extLst>
          </p:cNvPr>
          <p:cNvGraphicFramePr>
            <a:graphicFrameLocks noGrp="1"/>
          </p:cNvGraphicFramePr>
          <p:nvPr>
            <p:ph idx="1"/>
            <p:extLst>
              <p:ext uri="{D42A27DB-BD31-4B8C-83A1-F6EECF244321}">
                <p14:modId xmlns:p14="http://schemas.microsoft.com/office/powerpoint/2010/main" val="1284007714"/>
              </p:ext>
            </p:extLst>
          </p:nvPr>
        </p:nvGraphicFramePr>
        <p:xfrm>
          <a:off x="591472" y="2367900"/>
          <a:ext cx="9730399" cy="28684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246683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3F21D-9133-B7C3-CD30-CCA724552041}"/>
              </a:ext>
            </a:extLst>
          </p:cNvPr>
          <p:cNvSpPr>
            <a:spLocks noGrp="1"/>
          </p:cNvSpPr>
          <p:nvPr>
            <p:ph type="title"/>
          </p:nvPr>
        </p:nvSpPr>
        <p:spPr>
          <a:xfrm>
            <a:off x="591473" y="545745"/>
            <a:ext cx="3797600" cy="880100"/>
          </a:xfrm>
        </p:spPr>
        <p:txBody>
          <a:bodyPr>
            <a:normAutofit/>
          </a:bodyPr>
          <a:lstStyle/>
          <a:p>
            <a:r>
              <a:rPr lang="en-US" dirty="0"/>
              <a:t>TARGET AUDIENCE</a:t>
            </a:r>
            <a:endParaRPr lang="en-KE" dirty="0"/>
          </a:p>
        </p:txBody>
      </p:sp>
      <p:sp>
        <p:nvSpPr>
          <p:cNvPr id="3" name="Content Placeholder 2">
            <a:extLst>
              <a:ext uri="{FF2B5EF4-FFF2-40B4-BE49-F238E27FC236}">
                <a16:creationId xmlns:a16="http://schemas.microsoft.com/office/drawing/2014/main" id="{6B35A6B6-3B64-9714-52EA-93FF5F1DB172}"/>
              </a:ext>
            </a:extLst>
          </p:cNvPr>
          <p:cNvSpPr>
            <a:spLocks noGrp="1"/>
          </p:cNvSpPr>
          <p:nvPr>
            <p:ph idx="1"/>
          </p:nvPr>
        </p:nvSpPr>
        <p:spPr>
          <a:xfrm>
            <a:off x="591473" y="2054577"/>
            <a:ext cx="3797599" cy="168826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target audience for this analysis includes the top executives and the strategic planning team who are interested in opening a new supermarket store in a specific city or area. The leadership seeks locations that are most popular and well-known within the city.</a:t>
            </a:r>
            <a:endParaRPr lang="en-KE" dirty="0">
              <a:latin typeface="Times New Roman" panose="02020603050405020304" pitchFamily="18" charset="0"/>
              <a:cs typeface="Times New Roman" panose="02020603050405020304" pitchFamily="18" charset="0"/>
            </a:endParaRPr>
          </a:p>
        </p:txBody>
      </p:sp>
      <p:pic>
        <p:nvPicPr>
          <p:cNvPr id="7" name="Graphic 6" descr="Kiosk">
            <a:extLst>
              <a:ext uri="{FF2B5EF4-FFF2-40B4-BE49-F238E27FC236}">
                <a16:creationId xmlns:a16="http://schemas.microsoft.com/office/drawing/2014/main" id="{A48257DB-8C51-6189-957B-F5C6877E57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94589" y="545745"/>
            <a:ext cx="4687006" cy="4687006"/>
          </a:xfrm>
          <a:prstGeom prst="rect">
            <a:avLst/>
          </a:prstGeom>
          <a:effectLst/>
        </p:spPr>
      </p:pic>
    </p:spTree>
    <p:extLst>
      <p:ext uri="{BB962C8B-B14F-4D97-AF65-F5344CB8AC3E}">
        <p14:creationId xmlns:p14="http://schemas.microsoft.com/office/powerpoint/2010/main" val="1007620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315F7-BC95-793C-CBD7-A1646FD42DF8}"/>
              </a:ext>
            </a:extLst>
          </p:cNvPr>
          <p:cNvSpPr>
            <a:spLocks noGrp="1"/>
          </p:cNvSpPr>
          <p:nvPr>
            <p:ph type="title"/>
          </p:nvPr>
        </p:nvSpPr>
        <p:spPr/>
        <p:txBody>
          <a:bodyPr>
            <a:normAutofit/>
          </a:bodyPr>
          <a:lstStyle/>
          <a:p>
            <a:r>
              <a:rPr lang="en-US">
                <a:solidFill>
                  <a:srgbClr val="EBEBEB"/>
                </a:solidFill>
              </a:rPr>
              <a:t>DATA</a:t>
            </a:r>
            <a:endParaRPr lang="en-KE">
              <a:solidFill>
                <a:srgbClr val="EBEBEB"/>
              </a:solidFill>
            </a:endParaRPr>
          </a:p>
        </p:txBody>
      </p:sp>
      <p:graphicFrame>
        <p:nvGraphicFramePr>
          <p:cNvPr id="21" name="Content Placeholder 2">
            <a:extLst>
              <a:ext uri="{FF2B5EF4-FFF2-40B4-BE49-F238E27FC236}">
                <a16:creationId xmlns:a16="http://schemas.microsoft.com/office/drawing/2014/main" id="{84B657F1-E6F2-AFB1-F801-18D77BAB306A}"/>
              </a:ext>
            </a:extLst>
          </p:cNvPr>
          <p:cNvGraphicFramePr>
            <a:graphicFrameLocks noGrp="1"/>
          </p:cNvGraphicFramePr>
          <p:nvPr>
            <p:ph idx="1"/>
            <p:extLst>
              <p:ext uri="{D42A27DB-BD31-4B8C-83A1-F6EECF244321}">
                <p14:modId xmlns:p14="http://schemas.microsoft.com/office/powerpoint/2010/main" val="1362456081"/>
              </p:ext>
            </p:extLst>
          </p:nvPr>
        </p:nvGraphicFramePr>
        <p:xfrm>
          <a:off x="1172986" y="2014780"/>
          <a:ext cx="8773136" cy="3665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631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F68E-7F3D-6BEF-EAD4-BC9DA9EA1A5D}"/>
              </a:ext>
            </a:extLst>
          </p:cNvPr>
          <p:cNvSpPr>
            <a:spLocks noGrp="1"/>
          </p:cNvSpPr>
          <p:nvPr>
            <p:ph type="title"/>
          </p:nvPr>
        </p:nvSpPr>
        <p:spPr>
          <a:xfrm>
            <a:off x="1349448" y="381457"/>
            <a:ext cx="7539116" cy="1180076"/>
          </a:xfrm>
        </p:spPr>
        <p:txBody>
          <a:bodyPr anchor="ctr">
            <a:normAutofit/>
          </a:bodyPr>
          <a:lstStyle/>
          <a:p>
            <a:r>
              <a:rPr lang="en-US">
                <a:solidFill>
                  <a:srgbClr val="FFFFFF"/>
                </a:solidFill>
              </a:rPr>
              <a:t>METHODOLOGY</a:t>
            </a:r>
            <a:endParaRPr lang="en-KE">
              <a:solidFill>
                <a:srgbClr val="FFFFFF"/>
              </a:solidFill>
            </a:endParaRPr>
          </a:p>
        </p:txBody>
      </p:sp>
      <p:sp>
        <p:nvSpPr>
          <p:cNvPr id="3" name="Content Placeholder 2">
            <a:extLst>
              <a:ext uri="{FF2B5EF4-FFF2-40B4-BE49-F238E27FC236}">
                <a16:creationId xmlns:a16="http://schemas.microsoft.com/office/drawing/2014/main" id="{CEA62A82-8BF9-0DC4-977E-32E1D1B332E5}"/>
              </a:ext>
            </a:extLst>
          </p:cNvPr>
          <p:cNvSpPr>
            <a:spLocks noGrp="1"/>
          </p:cNvSpPr>
          <p:nvPr>
            <p:ph idx="1"/>
          </p:nvPr>
        </p:nvSpPr>
        <p:spPr>
          <a:xfrm>
            <a:off x="1349449" y="2065283"/>
            <a:ext cx="7538289" cy="3389585"/>
          </a:xfrm>
        </p:spPr>
        <p:txBody>
          <a:bodyPr>
            <a:normAutofit fontScale="92500"/>
          </a:bodyPr>
          <a:lstStyle/>
          <a:p>
            <a:pPr marL="0" indent="0">
              <a:lnSpc>
                <a:spcPct val="90000"/>
              </a:lnSpc>
              <a:buNone/>
            </a:pPr>
            <a:r>
              <a:rPr lang="en-US" sz="1348" dirty="0">
                <a:latin typeface="Times New Roman" panose="02020603050405020304" pitchFamily="18" charset="0"/>
                <a:cs typeface="Times New Roman" panose="02020603050405020304" pitchFamily="18" charset="0"/>
              </a:rPr>
              <a:t>The following steps were followed – </a:t>
            </a:r>
          </a:p>
          <a:p>
            <a:pPr>
              <a:lnSpc>
                <a:spcPct val="90000"/>
              </a:lnSpc>
            </a:pPr>
            <a:r>
              <a:rPr lang="en-US" sz="1348" dirty="0">
                <a:latin typeface="Times New Roman" panose="02020603050405020304" pitchFamily="18" charset="0"/>
                <a:cs typeface="Times New Roman" panose="02020603050405020304" pitchFamily="18" charset="0"/>
              </a:rPr>
              <a:t>got the demographic data of Kenya from the KNBS website</a:t>
            </a:r>
          </a:p>
          <a:p>
            <a:pPr>
              <a:lnSpc>
                <a:spcPct val="90000"/>
              </a:lnSpc>
            </a:pPr>
            <a:r>
              <a:rPr lang="en-US" sz="1348" dirty="0">
                <a:latin typeface="Times New Roman" panose="02020603050405020304" pitchFamily="18" charset="0"/>
                <a:cs typeface="Times New Roman" panose="02020603050405020304" pitchFamily="18" charset="0"/>
              </a:rPr>
              <a:t>used the python selenium and beautiful soup libraries for web scraping to collect data about the existing stores and the competitors present</a:t>
            </a:r>
          </a:p>
          <a:p>
            <a:pPr>
              <a:lnSpc>
                <a:spcPct val="90000"/>
              </a:lnSpc>
            </a:pPr>
            <a:r>
              <a:rPr lang="en-US" sz="1348" dirty="0">
                <a:latin typeface="Times New Roman" panose="02020603050405020304" pitchFamily="18" charset="0"/>
                <a:cs typeface="Times New Roman" panose="02020603050405020304" pitchFamily="18" charset="0"/>
              </a:rPr>
              <a:t>got the longitude and latitude coordinates of all the existing stores for the top 6 supermarket chains in Kenya (</a:t>
            </a:r>
            <a:r>
              <a:rPr lang="en-US" sz="1348" dirty="0" err="1">
                <a:latin typeface="Times New Roman" panose="02020603050405020304" pitchFamily="18" charset="0"/>
                <a:cs typeface="Times New Roman" panose="02020603050405020304" pitchFamily="18" charset="0"/>
              </a:rPr>
              <a:t>Naivas</a:t>
            </a:r>
            <a:r>
              <a:rPr lang="en-US" sz="1348" dirty="0">
                <a:latin typeface="Times New Roman" panose="02020603050405020304" pitchFamily="18" charset="0"/>
                <a:cs typeface="Times New Roman" panose="02020603050405020304" pitchFamily="18" charset="0"/>
              </a:rPr>
              <a:t>, </a:t>
            </a:r>
            <a:r>
              <a:rPr lang="en-US" sz="1348" dirty="0" err="1">
                <a:latin typeface="Times New Roman" panose="02020603050405020304" pitchFamily="18" charset="0"/>
                <a:cs typeface="Times New Roman" panose="02020603050405020304" pitchFamily="18" charset="0"/>
              </a:rPr>
              <a:t>Quickmart</a:t>
            </a:r>
            <a:r>
              <a:rPr lang="en-US" sz="1348" dirty="0">
                <a:latin typeface="Times New Roman" panose="02020603050405020304" pitchFamily="18" charset="0"/>
                <a:cs typeface="Times New Roman" panose="02020603050405020304" pitchFamily="18" charset="0"/>
              </a:rPr>
              <a:t>, </a:t>
            </a:r>
            <a:r>
              <a:rPr lang="en-US" sz="1348" dirty="0" err="1">
                <a:latin typeface="Times New Roman" panose="02020603050405020304" pitchFamily="18" charset="0"/>
                <a:cs typeface="Times New Roman" panose="02020603050405020304" pitchFamily="18" charset="0"/>
              </a:rPr>
              <a:t>Chandarana</a:t>
            </a:r>
            <a:r>
              <a:rPr lang="en-US" sz="1348" dirty="0">
                <a:latin typeface="Times New Roman" panose="02020603050405020304" pitchFamily="18" charset="0"/>
                <a:cs typeface="Times New Roman" panose="02020603050405020304" pitchFamily="18" charset="0"/>
              </a:rPr>
              <a:t>, Carrefour, </a:t>
            </a:r>
            <a:r>
              <a:rPr lang="en-US" sz="1348" dirty="0" err="1">
                <a:latin typeface="Times New Roman" panose="02020603050405020304" pitchFamily="18" charset="0"/>
                <a:cs typeface="Times New Roman" panose="02020603050405020304" pitchFamily="18" charset="0"/>
              </a:rPr>
              <a:t>Cleanshelf</a:t>
            </a:r>
            <a:r>
              <a:rPr lang="en-US" sz="1348" dirty="0">
                <a:latin typeface="Times New Roman" panose="02020603050405020304" pitchFamily="18" charset="0"/>
                <a:cs typeface="Times New Roman" panose="02020603050405020304" pitchFamily="18" charset="0"/>
              </a:rPr>
              <a:t>, </a:t>
            </a:r>
            <a:r>
              <a:rPr lang="en-US" sz="1348" dirty="0" err="1">
                <a:latin typeface="Times New Roman" panose="02020603050405020304" pitchFamily="18" charset="0"/>
                <a:cs typeface="Times New Roman" panose="02020603050405020304" pitchFamily="18" charset="0"/>
              </a:rPr>
              <a:t>Khetia’s</a:t>
            </a:r>
            <a:r>
              <a:rPr lang="en-US" sz="1348" dirty="0">
                <a:latin typeface="Times New Roman" panose="02020603050405020304" pitchFamily="18" charset="0"/>
                <a:cs typeface="Times New Roman" panose="02020603050405020304" pitchFamily="18" charset="0"/>
              </a:rPr>
              <a:t>)</a:t>
            </a:r>
          </a:p>
          <a:p>
            <a:pPr>
              <a:lnSpc>
                <a:spcPct val="90000"/>
              </a:lnSpc>
            </a:pPr>
            <a:r>
              <a:rPr lang="en-US" sz="1348" dirty="0">
                <a:latin typeface="Times New Roman" panose="02020603050405020304" pitchFamily="18" charset="0"/>
                <a:cs typeface="Times New Roman" panose="02020603050405020304" pitchFamily="18" charset="0"/>
              </a:rPr>
              <a:t>visualized the stores on the map of Kenya using the Folium library package to understand the spatial distribution of current stores, identifying saturated areas, and spot geographical gaps.</a:t>
            </a:r>
          </a:p>
          <a:p>
            <a:pPr>
              <a:lnSpc>
                <a:spcPct val="90000"/>
              </a:lnSpc>
            </a:pPr>
            <a:r>
              <a:rPr lang="en-US" sz="1348" dirty="0">
                <a:latin typeface="Times New Roman" panose="02020603050405020304" pitchFamily="18" charset="0"/>
                <a:cs typeface="Times New Roman" panose="02020603050405020304" pitchFamily="18" charset="0"/>
              </a:rPr>
              <a:t>Created choropleths to visualize demographic distribution per county and isochrone maps for each store location for accessibility analysis based on the area’s road network, public transit routes and traffic conditions</a:t>
            </a:r>
          </a:p>
          <a:p>
            <a:pPr>
              <a:lnSpc>
                <a:spcPct val="90000"/>
              </a:lnSpc>
            </a:pPr>
            <a:r>
              <a:rPr lang="en-US" sz="1348" dirty="0">
                <a:latin typeface="Times New Roman" panose="02020603050405020304" pitchFamily="18" charset="0"/>
                <a:cs typeface="Times New Roman" panose="02020603050405020304" pitchFamily="18" charset="0"/>
              </a:rPr>
              <a:t>Performed data analysis and developed a store location recommender system.</a:t>
            </a:r>
          </a:p>
          <a:p>
            <a:pPr>
              <a:lnSpc>
                <a:spcPct val="90000"/>
              </a:lnSpc>
            </a:pPr>
            <a:r>
              <a:rPr lang="en-US" sz="1348" dirty="0">
                <a:latin typeface="Times New Roman" panose="02020603050405020304" pitchFamily="18" charset="0"/>
                <a:cs typeface="Times New Roman" panose="02020603050405020304" pitchFamily="18" charset="0"/>
              </a:rPr>
              <a:t>Deployed the </a:t>
            </a:r>
            <a:r>
              <a:rPr lang="en-US" sz="1300" dirty="0">
                <a:latin typeface="Times New Roman" panose="02020603050405020304" pitchFamily="18" charset="0"/>
                <a:cs typeface="Times New Roman" panose="02020603050405020304" pitchFamily="18" charset="0"/>
              </a:rPr>
              <a:t>system on Heroku using a web interface and provided a link for client access. the system allows the client to input their preferred coordinates for a new store, displays the location on a map with isochrones for a specified time alongside preferred demographics for the given county. The system highlights the isochrone area, nearby competitors, and whether the isochrone overlaps with those of competitors or existing branches.</a:t>
            </a:r>
            <a:endParaRPr lang="en-KE"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60317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FB78-B778-E7CC-3A75-4C78C647376A}"/>
              </a:ext>
            </a:extLst>
          </p:cNvPr>
          <p:cNvSpPr>
            <a:spLocks noGrp="1"/>
          </p:cNvSpPr>
          <p:nvPr>
            <p:ph type="title"/>
          </p:nvPr>
        </p:nvSpPr>
        <p:spPr>
          <a:xfrm>
            <a:off x="1126066" y="533399"/>
            <a:ext cx="7942227" cy="1070675"/>
          </a:xfrm>
        </p:spPr>
        <p:txBody>
          <a:bodyPr vert="horz" lIns="77047" tIns="38523" rIns="77047" bIns="38523" rtlCol="0" anchor="ctr">
            <a:noAutofit/>
          </a:bodyPr>
          <a:lstStyle/>
          <a:p>
            <a:r>
              <a:rPr lang="en-US" sz="1800" dirty="0">
                <a:solidFill>
                  <a:srgbClr val="FFFFFF"/>
                </a:solidFill>
                <a:latin typeface="Times New Roman" panose="02020603050405020304" pitchFamily="18" charset="0"/>
                <a:cs typeface="Times New Roman" panose="02020603050405020304" pitchFamily="18" charset="0"/>
              </a:rPr>
              <a:t>distribution of stores for top 6 supermarket chains in Kenya. Most stores are concentrated in Nairobi and environs with moderate number of stores in the western part of the country and coast. The Northern and north-eastern parts of the country have no stores.</a:t>
            </a:r>
          </a:p>
        </p:txBody>
      </p:sp>
      <p:sp>
        <p:nvSpPr>
          <p:cNvPr id="4" name="Content Placeholder 3">
            <a:extLst>
              <a:ext uri="{FF2B5EF4-FFF2-40B4-BE49-F238E27FC236}">
                <a16:creationId xmlns:a16="http://schemas.microsoft.com/office/drawing/2014/main" id="{1CB91933-ACEB-CE04-3650-B840C1E6DC85}"/>
              </a:ext>
            </a:extLst>
          </p:cNvPr>
          <p:cNvSpPr>
            <a:spLocks noGrp="1"/>
          </p:cNvSpPr>
          <p:nvPr>
            <p:ph idx="1"/>
          </p:nvPr>
        </p:nvSpPr>
        <p:spPr>
          <a:xfrm>
            <a:off x="1052693" y="1947042"/>
            <a:ext cx="8044220" cy="3689130"/>
          </a:xfrm>
        </p:spPr>
        <p:txBody>
          <a:bodyPr/>
          <a:lstStyle/>
          <a:p>
            <a:endParaRPr lang="en-KE" dirty="0"/>
          </a:p>
        </p:txBody>
      </p:sp>
      <p:pic>
        <p:nvPicPr>
          <p:cNvPr id="6" name="Picture 5">
            <a:extLst>
              <a:ext uri="{FF2B5EF4-FFF2-40B4-BE49-F238E27FC236}">
                <a16:creationId xmlns:a16="http://schemas.microsoft.com/office/drawing/2014/main" id="{88ED5AD3-ED5C-6044-4C40-993715ECBB65}"/>
              </a:ext>
            </a:extLst>
          </p:cNvPr>
          <p:cNvPicPr>
            <a:picLocks noChangeAspect="1"/>
          </p:cNvPicPr>
          <p:nvPr/>
        </p:nvPicPr>
        <p:blipFill>
          <a:blip r:embed="rId2"/>
          <a:stretch>
            <a:fillRect/>
          </a:stretch>
        </p:blipFill>
        <p:spPr>
          <a:xfrm>
            <a:off x="1052693" y="1947042"/>
            <a:ext cx="8044220" cy="3689129"/>
          </a:xfrm>
          <a:prstGeom prst="rect">
            <a:avLst/>
          </a:prstGeom>
        </p:spPr>
      </p:pic>
    </p:spTree>
    <p:extLst>
      <p:ext uri="{BB962C8B-B14F-4D97-AF65-F5344CB8AC3E}">
        <p14:creationId xmlns:p14="http://schemas.microsoft.com/office/powerpoint/2010/main" val="2780751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668B-0DF8-DC71-ABF0-6194BD111927}"/>
              </a:ext>
            </a:extLst>
          </p:cNvPr>
          <p:cNvSpPr>
            <a:spLocks noGrp="1"/>
          </p:cNvSpPr>
          <p:nvPr>
            <p:ph type="title"/>
          </p:nvPr>
        </p:nvSpPr>
        <p:spPr>
          <a:xfrm>
            <a:off x="1052693" y="557939"/>
            <a:ext cx="7985663" cy="1053885"/>
          </a:xfrm>
        </p:spPr>
        <p:txBody>
          <a:bodyPr>
            <a:noAutofit/>
          </a:bodyPr>
          <a:lstStyle/>
          <a:p>
            <a:r>
              <a:rPr lang="en-US" sz="1800" dirty="0">
                <a:latin typeface="Times New Roman" panose="02020603050405020304" pitchFamily="18" charset="0"/>
                <a:cs typeface="Times New Roman" panose="02020603050405020304" pitchFamily="18" charset="0"/>
              </a:rPr>
              <a:t>Countrywide stores count for each supermarket chain. Naivas leading in the number of stores followed by Quickmart, Chandarana and </a:t>
            </a:r>
            <a:r>
              <a:rPr lang="en-US" sz="1800" dirty="0" err="1">
                <a:latin typeface="Times New Roman" panose="02020603050405020304" pitchFamily="18" charset="0"/>
                <a:cs typeface="Times New Roman" panose="02020603050405020304" pitchFamily="18" charset="0"/>
              </a:rPr>
              <a:t>Khetia’s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Cleanshelf</a:t>
            </a:r>
            <a:r>
              <a:rPr lang="en-US" sz="1800" dirty="0">
                <a:latin typeface="Times New Roman" panose="02020603050405020304" pitchFamily="18" charset="0"/>
                <a:cs typeface="Times New Roman" panose="02020603050405020304" pitchFamily="18" charset="0"/>
              </a:rPr>
              <a:t> has the least number of stores</a:t>
            </a:r>
            <a:endParaRPr lang="en-KE"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EDECDB6-D5FE-5E0B-C802-57DAC34CB980}"/>
              </a:ext>
            </a:extLst>
          </p:cNvPr>
          <p:cNvSpPr>
            <a:spLocks noGrp="1"/>
          </p:cNvSpPr>
          <p:nvPr>
            <p:ph idx="1"/>
          </p:nvPr>
        </p:nvSpPr>
        <p:spPr/>
        <p:txBody>
          <a:bodyPr/>
          <a:lstStyle/>
          <a:p>
            <a:endParaRPr lang="en-KE"/>
          </a:p>
        </p:txBody>
      </p:sp>
      <p:pic>
        <p:nvPicPr>
          <p:cNvPr id="6" name="Picture 5">
            <a:extLst>
              <a:ext uri="{FF2B5EF4-FFF2-40B4-BE49-F238E27FC236}">
                <a16:creationId xmlns:a16="http://schemas.microsoft.com/office/drawing/2014/main" id="{AF19D3D8-B7FC-25DC-C422-8752405D5480}"/>
              </a:ext>
            </a:extLst>
          </p:cNvPr>
          <p:cNvPicPr>
            <a:picLocks noChangeAspect="1"/>
          </p:cNvPicPr>
          <p:nvPr/>
        </p:nvPicPr>
        <p:blipFill>
          <a:blip r:embed="rId2"/>
          <a:stretch>
            <a:fillRect/>
          </a:stretch>
        </p:blipFill>
        <p:spPr>
          <a:xfrm>
            <a:off x="693059" y="2193690"/>
            <a:ext cx="9726382" cy="3134162"/>
          </a:xfrm>
          <a:prstGeom prst="rect">
            <a:avLst/>
          </a:prstGeom>
        </p:spPr>
      </p:pic>
    </p:spTree>
    <p:extLst>
      <p:ext uri="{BB962C8B-B14F-4D97-AF65-F5344CB8AC3E}">
        <p14:creationId xmlns:p14="http://schemas.microsoft.com/office/powerpoint/2010/main" val="3465832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84EA-A2FF-A21E-6ADE-22DE51401500}"/>
              </a:ext>
            </a:extLst>
          </p:cNvPr>
          <p:cNvSpPr>
            <a:spLocks noGrp="1"/>
          </p:cNvSpPr>
          <p:nvPr>
            <p:ph type="title"/>
          </p:nvPr>
        </p:nvSpPr>
        <p:spPr>
          <a:xfrm>
            <a:off x="1052693" y="534692"/>
            <a:ext cx="7985663" cy="1084881"/>
          </a:xfrm>
        </p:spPr>
        <p:txBody>
          <a:bodyPr/>
          <a:lstStyle/>
          <a:p>
            <a:r>
              <a:rPr lang="en-US" sz="1800" dirty="0">
                <a:latin typeface="Times New Roman" panose="02020603050405020304" pitchFamily="18" charset="0"/>
                <a:cs typeface="Times New Roman" panose="02020603050405020304" pitchFamily="18" charset="0"/>
              </a:rPr>
              <a:t>Nairobi county leads with the highest number of stores followed by Kiambu, Nakuru, Mombasa then Kisumu. Stores present in only 25 counties out of the 47 counties in Kenya</a:t>
            </a:r>
            <a:endParaRPr lang="en-KE"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98966E4-A102-FCE4-A54E-E0644B91F97D}"/>
              </a:ext>
            </a:extLst>
          </p:cNvPr>
          <p:cNvSpPr>
            <a:spLocks noGrp="1"/>
          </p:cNvSpPr>
          <p:nvPr>
            <p:ph idx="1"/>
          </p:nvPr>
        </p:nvSpPr>
        <p:spPr/>
        <p:txBody>
          <a:bodyPr/>
          <a:lstStyle/>
          <a:p>
            <a:endParaRPr lang="en-KE"/>
          </a:p>
        </p:txBody>
      </p:sp>
      <p:pic>
        <p:nvPicPr>
          <p:cNvPr id="6" name="Picture 5">
            <a:extLst>
              <a:ext uri="{FF2B5EF4-FFF2-40B4-BE49-F238E27FC236}">
                <a16:creationId xmlns:a16="http://schemas.microsoft.com/office/drawing/2014/main" id="{C3377587-7249-71AE-7F7E-CF18CE41962A}"/>
              </a:ext>
            </a:extLst>
          </p:cNvPr>
          <p:cNvPicPr>
            <a:picLocks noChangeAspect="1"/>
          </p:cNvPicPr>
          <p:nvPr/>
        </p:nvPicPr>
        <p:blipFill>
          <a:blip r:embed="rId2"/>
          <a:stretch>
            <a:fillRect/>
          </a:stretch>
        </p:blipFill>
        <p:spPr>
          <a:xfrm>
            <a:off x="769269" y="2070646"/>
            <a:ext cx="9573961" cy="3124636"/>
          </a:xfrm>
          <a:prstGeom prst="rect">
            <a:avLst/>
          </a:prstGeom>
        </p:spPr>
      </p:pic>
    </p:spTree>
    <p:extLst>
      <p:ext uri="{BB962C8B-B14F-4D97-AF65-F5344CB8AC3E}">
        <p14:creationId xmlns:p14="http://schemas.microsoft.com/office/powerpoint/2010/main" val="3257069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7ABC0-67FB-173A-9D28-E87E1DF669B3}"/>
              </a:ext>
            </a:extLst>
          </p:cNvPr>
          <p:cNvSpPr>
            <a:spLocks noGrp="1"/>
          </p:cNvSpPr>
          <p:nvPr>
            <p:ph type="title"/>
          </p:nvPr>
        </p:nvSpPr>
        <p:spPr>
          <a:xfrm>
            <a:off x="1052693" y="550191"/>
            <a:ext cx="7985663" cy="1108128"/>
          </a:xfrm>
        </p:spPr>
        <p:txBody>
          <a:bodyPr/>
          <a:lstStyle/>
          <a:p>
            <a:r>
              <a:rPr lang="en-US" sz="1800" dirty="0">
                <a:latin typeface="Times New Roman" panose="02020603050405020304" pitchFamily="18" charset="0"/>
                <a:cs typeface="Times New Roman" panose="02020603050405020304" pitchFamily="18" charset="0"/>
              </a:rPr>
              <a:t>All the top 6 supermarket chains are present in at least 5 counties in Kenya except for carrefour that is only present in 3 counties (Nairobi, Mombasa and Kisumu)</a:t>
            </a:r>
            <a:endParaRPr lang="en-KE"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45FFB84-5733-0F99-1B58-06BA898C3F5F}"/>
              </a:ext>
            </a:extLst>
          </p:cNvPr>
          <p:cNvPicPr>
            <a:picLocks noChangeAspect="1"/>
          </p:cNvPicPr>
          <p:nvPr/>
        </p:nvPicPr>
        <p:blipFill>
          <a:blip r:embed="rId2"/>
          <a:stretch>
            <a:fillRect/>
          </a:stretch>
        </p:blipFill>
        <p:spPr>
          <a:xfrm>
            <a:off x="2776878" y="2158999"/>
            <a:ext cx="4876989" cy="3479801"/>
          </a:xfrm>
          <a:prstGeom prst="rect">
            <a:avLst/>
          </a:prstGeom>
        </p:spPr>
      </p:pic>
    </p:spTree>
    <p:extLst>
      <p:ext uri="{BB962C8B-B14F-4D97-AF65-F5344CB8AC3E}">
        <p14:creationId xmlns:p14="http://schemas.microsoft.com/office/powerpoint/2010/main" val="880624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F90D-F79F-8191-AAC3-C64FB5C5586A}"/>
              </a:ext>
            </a:extLst>
          </p:cNvPr>
          <p:cNvSpPr>
            <a:spLocks noGrp="1"/>
          </p:cNvSpPr>
          <p:nvPr>
            <p:ph type="title"/>
          </p:nvPr>
        </p:nvSpPr>
        <p:spPr>
          <a:xfrm>
            <a:off x="1052693" y="573437"/>
            <a:ext cx="7985663" cy="1038387"/>
          </a:xfrm>
        </p:spPr>
        <p:txBody>
          <a:bodyPr/>
          <a:lstStyle/>
          <a:p>
            <a:r>
              <a:rPr lang="en-US" sz="1800" dirty="0">
                <a:latin typeface="Times New Roman" panose="02020603050405020304" pitchFamily="18" charset="0"/>
                <a:cs typeface="Times New Roman" panose="02020603050405020304" pitchFamily="18" charset="0"/>
              </a:rPr>
              <a:t>Naivas, Quickmart, Chandarana and Carrefour are the only supermarket chains present in all Kenya’s 3 major cities (Nairobi, Mombasa &amp; Kisumu)</a:t>
            </a:r>
            <a:endParaRPr lang="en-KE"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F02627-C717-8FB0-275B-B194B8871A48}"/>
              </a:ext>
            </a:extLst>
          </p:cNvPr>
          <p:cNvPicPr>
            <a:picLocks noChangeAspect="1"/>
          </p:cNvPicPr>
          <p:nvPr/>
        </p:nvPicPr>
        <p:blipFill>
          <a:blip r:embed="rId2"/>
          <a:stretch>
            <a:fillRect/>
          </a:stretch>
        </p:blipFill>
        <p:spPr>
          <a:xfrm>
            <a:off x="776687" y="1980460"/>
            <a:ext cx="9440592" cy="3019846"/>
          </a:xfrm>
          <a:prstGeom prst="rect">
            <a:avLst/>
          </a:prstGeom>
        </p:spPr>
      </p:pic>
    </p:spTree>
    <p:extLst>
      <p:ext uri="{BB962C8B-B14F-4D97-AF65-F5344CB8AC3E}">
        <p14:creationId xmlns:p14="http://schemas.microsoft.com/office/powerpoint/2010/main" val="3975649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4B96-8DF0-C405-DB83-0A9251954189}"/>
              </a:ext>
            </a:extLst>
          </p:cNvPr>
          <p:cNvSpPr>
            <a:spLocks noGrp="1"/>
          </p:cNvSpPr>
          <p:nvPr>
            <p:ph type="title"/>
          </p:nvPr>
        </p:nvSpPr>
        <p:spPr>
          <a:xfrm>
            <a:off x="966589" y="472698"/>
            <a:ext cx="8251594" cy="1162373"/>
          </a:xfrm>
        </p:spPr>
        <p:txBody>
          <a:bodyPr>
            <a:noAutofit/>
          </a:bodyPr>
          <a:lstStyle/>
          <a:p>
            <a:r>
              <a:rPr lang="en-US" sz="1600" dirty="0">
                <a:solidFill>
                  <a:srgbClr val="EBEBEB"/>
                </a:solidFill>
                <a:latin typeface="Times New Roman" panose="02020603050405020304" pitchFamily="18" charset="0"/>
                <a:cs typeface="Times New Roman" panose="02020603050405020304" pitchFamily="18" charset="0"/>
              </a:rPr>
              <a:t>Nairobi county tops in the number of stores for all chains except for Bungoma county where Khetia’s supermarket takes the lead in the number of stores. Khetia’s notably present in the western counties of Kenya in Bungoma, Busia, Kakamega, Kisumu, Kitale and Uasin Gishu counties with sparse presence in Nairobi, Mombasa and central Kenya</a:t>
            </a:r>
            <a:endParaRPr lang="en-KE" sz="1600" dirty="0">
              <a:solidFill>
                <a:srgbClr val="EBEBEB"/>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C6AEBD-2C7B-5951-D144-2B93787B5690}"/>
              </a:ext>
            </a:extLst>
          </p:cNvPr>
          <p:cNvPicPr>
            <a:picLocks noChangeAspect="1"/>
          </p:cNvPicPr>
          <p:nvPr/>
        </p:nvPicPr>
        <p:blipFill>
          <a:blip r:embed="rId2"/>
          <a:stretch>
            <a:fillRect/>
          </a:stretch>
        </p:blipFill>
        <p:spPr>
          <a:xfrm>
            <a:off x="2045320" y="1956804"/>
            <a:ext cx="6108080" cy="3678297"/>
          </a:xfrm>
          <a:prstGeom prst="rect">
            <a:avLst/>
          </a:prstGeom>
        </p:spPr>
      </p:pic>
    </p:spTree>
    <p:extLst>
      <p:ext uri="{BB962C8B-B14F-4D97-AF65-F5344CB8AC3E}">
        <p14:creationId xmlns:p14="http://schemas.microsoft.com/office/powerpoint/2010/main" val="228300541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CF3D-2D54-2AE7-2B79-2B55F60C6CED}"/>
              </a:ext>
            </a:extLst>
          </p:cNvPr>
          <p:cNvSpPr>
            <a:spLocks noGrp="1"/>
          </p:cNvSpPr>
          <p:nvPr>
            <p:ph type="title"/>
          </p:nvPr>
        </p:nvSpPr>
        <p:spPr>
          <a:xfrm>
            <a:off x="1052693" y="596685"/>
            <a:ext cx="7985663" cy="861625"/>
          </a:xfrm>
        </p:spPr>
        <p:txBody>
          <a:bodyPr/>
          <a:lstStyle/>
          <a:p>
            <a:r>
              <a:rPr lang="en-US" sz="1200" b="1" dirty="0"/>
              <a:t>Isochrone Analysis:</a:t>
            </a:r>
            <a:br>
              <a:rPr lang="en-US" sz="1200" dirty="0"/>
            </a:br>
            <a:r>
              <a:rPr lang="en-US" sz="900" dirty="0"/>
              <a:t>isochrones are irregular circles or shaded areas around a location that show how far you can travel from a certain point in a specific amount of time. For example, an isochrone for 15 minutes on a map shows all the areas you can reach within 15 minutes of driving, walking, or using public transportation from that point. A larger isochrone means more people can reach the location quickly, making it more accessible. This helps to understand whether the location is convenient for customers. By layering isochrones from multiple stores on the map, you can see where stores overlap in terms of reach. If several stores' isochrones overlap in one area, it means that market is </a:t>
            </a:r>
            <a:r>
              <a:rPr lang="en-US" sz="900" b="1" dirty="0"/>
              <a:t>saturated</a:t>
            </a:r>
            <a:r>
              <a:rPr lang="en-US" sz="900" dirty="0"/>
              <a:t>—there are already plenty of options for customers, which may reduce the need for another store in that area. If your store's isochrone overlaps with that of a competitor, it shows you’re likely to be competing for the same customers. This can help you decide whether the area is too competitive or if there’s still enough customer demand to support your new store.</a:t>
            </a:r>
            <a:endParaRPr lang="en-KE" sz="900" dirty="0"/>
          </a:p>
        </p:txBody>
      </p:sp>
      <p:pic>
        <p:nvPicPr>
          <p:cNvPr id="7" name="Content Placeholder 6">
            <a:extLst>
              <a:ext uri="{FF2B5EF4-FFF2-40B4-BE49-F238E27FC236}">
                <a16:creationId xmlns:a16="http://schemas.microsoft.com/office/drawing/2014/main" id="{8067B82A-E65E-1C9B-328F-CF83C11C97F8}"/>
              </a:ext>
            </a:extLst>
          </p:cNvPr>
          <p:cNvPicPr>
            <a:picLocks noGrp="1" noChangeAspect="1"/>
          </p:cNvPicPr>
          <p:nvPr>
            <p:ph idx="1"/>
          </p:nvPr>
        </p:nvPicPr>
        <p:blipFill>
          <a:blip r:embed="rId2"/>
          <a:stretch>
            <a:fillRect/>
          </a:stretch>
        </p:blipFill>
        <p:spPr>
          <a:xfrm>
            <a:off x="2033753" y="1947042"/>
            <a:ext cx="6621516" cy="3665482"/>
          </a:xfrm>
        </p:spPr>
      </p:pic>
    </p:spTree>
    <p:extLst>
      <p:ext uri="{BB962C8B-B14F-4D97-AF65-F5344CB8AC3E}">
        <p14:creationId xmlns:p14="http://schemas.microsoft.com/office/powerpoint/2010/main" val="2246945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92C71-492A-06AF-2BC0-11DE1219152C}"/>
              </a:ext>
            </a:extLst>
          </p:cNvPr>
          <p:cNvSpPr>
            <a:spLocks noGrp="1"/>
          </p:cNvSpPr>
          <p:nvPr>
            <p:ph type="title"/>
          </p:nvPr>
        </p:nvSpPr>
        <p:spPr>
          <a:xfrm>
            <a:off x="1111250" y="882399"/>
            <a:ext cx="7985663" cy="595683"/>
          </a:xfrm>
        </p:spPr>
        <p:txBody>
          <a:bodyPr/>
          <a:lstStyle/>
          <a:p>
            <a:r>
              <a:rPr lang="en-US" sz="2000" dirty="0"/>
              <a:t>Recommendation &amp; Conclusion</a:t>
            </a:r>
            <a:endParaRPr lang="en-KE" sz="2000" dirty="0"/>
          </a:p>
        </p:txBody>
      </p:sp>
      <p:sp>
        <p:nvSpPr>
          <p:cNvPr id="3" name="Content Placeholder 2">
            <a:extLst>
              <a:ext uri="{FF2B5EF4-FFF2-40B4-BE49-F238E27FC236}">
                <a16:creationId xmlns:a16="http://schemas.microsoft.com/office/drawing/2014/main" id="{22A36974-D0DE-6243-62DC-30F334680F06}"/>
              </a:ext>
            </a:extLst>
          </p:cNvPr>
          <p:cNvSpPr>
            <a:spLocks noGrp="1"/>
          </p:cNvSpPr>
          <p:nvPr>
            <p:ph idx="1"/>
          </p:nvPr>
        </p:nvSpPr>
        <p:spPr/>
        <p:txBody>
          <a:bodyPr>
            <a:noAutofit/>
          </a:bodyPr>
          <a:lstStyle/>
          <a:p>
            <a:r>
              <a:rPr lang="en-US" sz="1100" b="1" dirty="0">
                <a:latin typeface="Times New Roman" panose="02020603050405020304" pitchFamily="18" charset="0"/>
                <a:cs typeface="Times New Roman" panose="02020603050405020304" pitchFamily="18" charset="0"/>
              </a:rPr>
              <a:t>Evaluating Isochrone Overlaps: </a:t>
            </a:r>
            <a:r>
              <a:rPr lang="en-US" sz="1100" dirty="0">
                <a:latin typeface="Times New Roman" panose="02020603050405020304" pitchFamily="18" charset="0"/>
                <a:cs typeface="Times New Roman" panose="02020603050405020304" pitchFamily="18" charset="0"/>
              </a:rPr>
              <a:t>Compare isochrones of potential new store locations with those of existing stores. Look for areas where isochrones overlap minimally to reduce competition and identify underserved markets. Target areas that fall outside the isochrones of existing stores but still within a desirable travel time. This will help to find locations with high accessibility and potential demand.</a:t>
            </a:r>
          </a:p>
          <a:p>
            <a:r>
              <a:rPr lang="en-US" sz="1100" b="1" dirty="0">
                <a:latin typeface="Times New Roman" panose="02020603050405020304" pitchFamily="18" charset="0"/>
                <a:cs typeface="Times New Roman" panose="02020603050405020304" pitchFamily="18" charset="0"/>
              </a:rPr>
              <a:t>Competition assessment</a:t>
            </a:r>
            <a:r>
              <a:rPr lang="en-US" sz="1100" dirty="0">
                <a:latin typeface="Times New Roman" panose="02020603050405020304" pitchFamily="18" charset="0"/>
                <a:cs typeface="Times New Roman" panose="02020603050405020304" pitchFamily="18" charset="0"/>
              </a:rPr>
              <a:t>: If a new location overlaps with existing store isochrones, evaluate the level of competition in that area. Count the number of existing stores from competing chains within the overlapping isochrone. Focus on areas with 3 or more stores from leading chains. High concentrations of top chains suggest strong competition and possible market saturation. Avoid highly saturated areas to prevent challenges in gaining market share.</a:t>
            </a:r>
          </a:p>
        </p:txBody>
      </p:sp>
    </p:spTree>
    <p:extLst>
      <p:ext uri="{BB962C8B-B14F-4D97-AF65-F5344CB8AC3E}">
        <p14:creationId xmlns:p14="http://schemas.microsoft.com/office/powerpoint/2010/main" val="3194557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CA3C1-DBBB-CC4E-03B6-4860AD27CABC}"/>
              </a:ext>
            </a:extLst>
          </p:cNvPr>
          <p:cNvSpPr>
            <a:spLocks noGrp="1"/>
          </p:cNvSpPr>
          <p:nvPr>
            <p:ph idx="1"/>
          </p:nvPr>
        </p:nvSpPr>
        <p:spPr/>
        <p:txBody>
          <a:bodyPr>
            <a:normAutofit fontScale="77500" lnSpcReduction="20000"/>
          </a:bodyPr>
          <a:lstStyle/>
          <a:p>
            <a:r>
              <a:rPr lang="en-US" sz="1600" b="1" dirty="0">
                <a:latin typeface="Times New Roman" panose="02020603050405020304" pitchFamily="18" charset="0"/>
                <a:cs typeface="Times New Roman" panose="02020603050405020304" pitchFamily="18" charset="0"/>
              </a:rPr>
              <a:t>Making Informed Decisions:</a:t>
            </a:r>
          </a:p>
          <a:p>
            <a:pPr marL="0" indent="0">
              <a:buNone/>
            </a:pPr>
            <a:r>
              <a:rPr lang="en-US" sz="1600" dirty="0">
                <a:latin typeface="Times New Roman" panose="02020603050405020304" pitchFamily="18" charset="0"/>
                <a:cs typeface="Times New Roman" panose="02020603050405020304" pitchFamily="18" charset="0"/>
              </a:rPr>
              <a:t>         High Competition: If an area has 3 or more top-chain stores, consider alternative locations with less competition.</a:t>
            </a:r>
          </a:p>
          <a:p>
            <a:pPr marL="0" indent="0">
              <a:buNone/>
            </a:pPr>
            <a:r>
              <a:rPr lang="en-US" sz="1600" dirty="0">
                <a:latin typeface="Times New Roman" panose="02020603050405020304" pitchFamily="18" charset="0"/>
                <a:cs typeface="Times New Roman" panose="02020603050405020304" pitchFamily="18" charset="0"/>
              </a:rPr>
              <a:t>         Low Competition: If fewer than 3 top-chain stores are present, and the area shows potential based on population and number of households, it may be viable to introduce competition even in overlapping isochrones.</a:t>
            </a:r>
          </a:p>
          <a:p>
            <a:r>
              <a:rPr lang="en-US" sz="1600" b="1" dirty="0">
                <a:latin typeface="Times New Roman" panose="02020603050405020304" pitchFamily="18" charset="0"/>
                <a:cs typeface="Times New Roman" panose="02020603050405020304" pitchFamily="18" charset="0"/>
              </a:rPr>
              <a:t>Balance Accessibility and Competition:</a:t>
            </a:r>
          </a:p>
          <a:p>
            <a:pPr marL="0" indent="0">
              <a:buNone/>
            </a:pPr>
            <a:r>
              <a:rPr lang="en-US" sz="1600" dirty="0">
                <a:latin typeface="Times New Roman" panose="02020603050405020304" pitchFamily="18" charset="0"/>
                <a:cs typeface="Times New Roman" panose="02020603050405020304" pitchFamily="18" charset="0"/>
              </a:rPr>
              <a:t>        Accessibility: Ensure that potential locations are easily accessible and not too distant from key residential or commercial     areas.</a:t>
            </a:r>
          </a:p>
          <a:p>
            <a:pPr marL="0" indent="0">
              <a:buNone/>
            </a:pPr>
            <a:r>
              <a:rPr lang="en-US" sz="1600" dirty="0">
                <a:latin typeface="Times New Roman" panose="02020603050405020304" pitchFamily="18" charset="0"/>
                <a:cs typeface="Times New Roman" panose="02020603050405020304" pitchFamily="18" charset="0"/>
              </a:rPr>
              <a:t>        Strategic Placement: Aim for locations that are accessible yet not oversaturated with competitors. Consider placing stores on the periphery of existing isochrones to capture untapped demand.</a:t>
            </a:r>
          </a:p>
          <a:p>
            <a:r>
              <a:rPr lang="en-US" sz="1600" b="1" dirty="0">
                <a:latin typeface="Times New Roman" panose="02020603050405020304" pitchFamily="18" charset="0"/>
                <a:cs typeface="Times New Roman" panose="02020603050405020304" pitchFamily="18" charset="0"/>
              </a:rPr>
              <a:t>Additional Considerations:</a:t>
            </a:r>
          </a:p>
          <a:p>
            <a:pPr marL="0" indent="0">
              <a:buNone/>
            </a:pPr>
            <a:r>
              <a:rPr lang="en-US" sz="1600" dirty="0">
                <a:latin typeface="Times New Roman" panose="02020603050405020304" pitchFamily="18" charset="0"/>
                <a:cs typeface="Times New Roman" panose="02020603050405020304" pitchFamily="18" charset="0"/>
              </a:rPr>
              <a:t>       Customer Demand: Assess local demand and market potential through demographic and economic data.</a:t>
            </a:r>
          </a:p>
          <a:p>
            <a:pPr marL="0" indent="0">
              <a:buNone/>
            </a:pPr>
            <a:r>
              <a:rPr lang="en-US" sz="1600" dirty="0">
                <a:latin typeface="Times New Roman" panose="02020603050405020304" pitchFamily="18" charset="0"/>
                <a:cs typeface="Times New Roman" panose="02020603050405020304" pitchFamily="18" charset="0"/>
              </a:rPr>
              <a:t>       Infrastructure and Visibility: Ensure that the location offers good infrastructure, visibility, and accessibility to attract customers effectively.</a:t>
            </a:r>
            <a:endParaRPr lang="en-KE" sz="1600" dirty="0">
              <a:latin typeface="Times New Roman" panose="02020603050405020304" pitchFamily="18" charset="0"/>
              <a:cs typeface="Times New Roman" panose="02020603050405020304" pitchFamily="18" charset="0"/>
            </a:endParaRPr>
          </a:p>
          <a:p>
            <a:endParaRPr lang="en-KE" dirty="0"/>
          </a:p>
        </p:txBody>
      </p:sp>
      <p:sp>
        <p:nvSpPr>
          <p:cNvPr id="4" name="TextBox 3">
            <a:extLst>
              <a:ext uri="{FF2B5EF4-FFF2-40B4-BE49-F238E27FC236}">
                <a16:creationId xmlns:a16="http://schemas.microsoft.com/office/drawing/2014/main" id="{A3E16CCB-503D-4CC1-C89E-8580D7C170B8}"/>
              </a:ext>
            </a:extLst>
          </p:cNvPr>
          <p:cNvSpPr txBox="1"/>
          <p:nvPr/>
        </p:nvSpPr>
        <p:spPr>
          <a:xfrm>
            <a:off x="1052693" y="962276"/>
            <a:ext cx="5557344" cy="369332"/>
          </a:xfrm>
          <a:prstGeom prst="rect">
            <a:avLst/>
          </a:prstGeom>
          <a:noFill/>
        </p:spPr>
        <p:txBody>
          <a:bodyPr wrap="square">
            <a:spAutoFit/>
          </a:bodyPr>
          <a:lstStyle/>
          <a:p>
            <a:r>
              <a:rPr lang="en-US" sz="1800" dirty="0">
                <a:solidFill>
                  <a:schemeClr val="bg1"/>
                </a:solidFill>
              </a:rPr>
              <a:t>Recommendation &amp; Conclusion</a:t>
            </a:r>
            <a:endParaRPr lang="en-KE" dirty="0">
              <a:solidFill>
                <a:schemeClr val="bg1"/>
              </a:solidFill>
            </a:endParaRPr>
          </a:p>
        </p:txBody>
      </p:sp>
    </p:spTree>
    <p:extLst>
      <p:ext uri="{BB962C8B-B14F-4D97-AF65-F5344CB8AC3E}">
        <p14:creationId xmlns:p14="http://schemas.microsoft.com/office/powerpoint/2010/main" val="580416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5DE04-1B06-99D8-BB43-7184BC58AADA}"/>
              </a:ext>
            </a:extLst>
          </p:cNvPr>
          <p:cNvSpPr>
            <a:spLocks noGrp="1"/>
          </p:cNvSpPr>
          <p:nvPr>
            <p:ph type="title"/>
          </p:nvPr>
        </p:nvSpPr>
        <p:spPr/>
        <p:txBody>
          <a:bodyPr/>
          <a:lstStyle/>
          <a:p>
            <a:r>
              <a:rPr lang="en-US" sz="1800" dirty="0"/>
              <a:t>Recommendation &amp; Conclusion based on Demographic Analysis</a:t>
            </a:r>
            <a:endParaRPr lang="en-KE" sz="1800" dirty="0"/>
          </a:p>
        </p:txBody>
      </p:sp>
      <p:sp>
        <p:nvSpPr>
          <p:cNvPr id="3" name="Content Placeholder 2">
            <a:extLst>
              <a:ext uri="{FF2B5EF4-FFF2-40B4-BE49-F238E27FC236}">
                <a16:creationId xmlns:a16="http://schemas.microsoft.com/office/drawing/2014/main" id="{F2FCDB30-67A4-5AC1-1F3E-7BC820EEFD0D}"/>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variables </a:t>
            </a:r>
            <a:r>
              <a:rPr lang="en-US" b="1" dirty="0">
                <a:latin typeface="Times New Roman" panose="02020603050405020304" pitchFamily="18" charset="0"/>
                <a:cs typeface="Times New Roman" panose="02020603050405020304" pitchFamily="18" charset="0"/>
              </a:rPr>
              <a:t>Population Total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Population Density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Number of Households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Total Number of Stores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 of Population Financially Healthy</a:t>
            </a:r>
            <a:r>
              <a:rPr lang="en-US" dirty="0">
                <a:latin typeface="Times New Roman" panose="02020603050405020304" pitchFamily="18" charset="0"/>
                <a:cs typeface="Times New Roman" panose="02020603050405020304" pitchFamily="18" charset="0"/>
              </a:rPr>
              <a:t> exhibit strong positive correlations (greater than 0.8) with each other. This indicates that as the total population increases, both the number of households and population density tend to rise proportionally, leading to a higher number of stores, reflecting an increased demand for goods.</a:t>
            </a:r>
          </a:p>
          <a:p>
            <a:r>
              <a:rPr lang="en-US" dirty="0">
                <a:latin typeface="Times New Roman" panose="02020603050405020304" pitchFamily="18" charset="0"/>
                <a:cs typeface="Times New Roman" panose="02020603050405020304" pitchFamily="18" charset="0"/>
              </a:rPr>
              <a:t>Areas with a high number of households also tend to have a higher percentage of financially healthy individuals. Such locations are promising for new stores due to their large and potentially lucrative customer base. Higher numbers of households generally correlate with greater total population and population density, making these areas ideal for new supermarket locations.</a:t>
            </a:r>
          </a:p>
          <a:p>
            <a:r>
              <a:rPr lang="en-US" dirty="0">
                <a:latin typeface="Times New Roman" panose="02020603050405020304" pitchFamily="18" charset="0"/>
                <a:cs typeface="Times New Roman" panose="02020603050405020304" pitchFamily="18" charset="0"/>
              </a:rPr>
              <a:t>Although a high number of existing stores in an area signifies a competitive market, it also points to high demand. It is crucial to analyze market saturation and competition in these regions. If entering a saturated market, consider differentiating your store’s offerings or targeting underserved areas to capture market share effectively.</a:t>
            </a:r>
          </a:p>
          <a:p>
            <a:endParaRPr lang="en-KE" dirty="0"/>
          </a:p>
        </p:txBody>
      </p:sp>
    </p:spTree>
    <p:extLst>
      <p:ext uri="{BB962C8B-B14F-4D97-AF65-F5344CB8AC3E}">
        <p14:creationId xmlns:p14="http://schemas.microsoft.com/office/powerpoint/2010/main" val="2499032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43A114B-CAF8-402E-A898-DEE2C2022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12500" cy="57785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KE"/>
          </a:p>
        </p:txBody>
      </p:sp>
      <p:sp>
        <p:nvSpPr>
          <p:cNvPr id="28" name="Oval 27">
            <a:extLst>
              <a:ext uri="{FF2B5EF4-FFF2-40B4-BE49-F238E27FC236}">
                <a16:creationId xmlns:a16="http://schemas.microsoft.com/office/drawing/2014/main" id="{64E68BB1-DCF6-49AB-8FF1-7E68DCBCD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5661" y="1540933"/>
            <a:ext cx="2569766" cy="2375605"/>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30" name="Oval 29">
            <a:extLst>
              <a:ext uri="{FF2B5EF4-FFF2-40B4-BE49-F238E27FC236}">
                <a16:creationId xmlns:a16="http://schemas.microsoft.com/office/drawing/2014/main" id="{DA9B8539-604B-420E-BA1B-0A2E64CD7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85661" y="4946823"/>
            <a:ext cx="902891" cy="834672"/>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32" name="Oval 31">
            <a:extLst>
              <a:ext uri="{FF2B5EF4-FFF2-40B4-BE49-F238E27FC236}">
                <a16:creationId xmlns:a16="http://schemas.microsoft.com/office/drawing/2014/main" id="{7236CAA2-54C3-4136-B0CC-6837B14D8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 y="2247194"/>
            <a:ext cx="3819921" cy="3531306"/>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34" name="Freeform 5">
            <a:extLst>
              <a:ext uri="{FF2B5EF4-FFF2-40B4-BE49-F238E27FC236}">
                <a16:creationId xmlns:a16="http://schemas.microsoft.com/office/drawing/2014/main" id="{40F86E67-9E86-453F-92BC-648189829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447" y="1337"/>
            <a:ext cx="11112499" cy="577716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KE"/>
          </a:p>
        </p:txBody>
      </p:sp>
      <p:sp>
        <p:nvSpPr>
          <p:cNvPr id="36" name="Rectangle 35">
            <a:extLst>
              <a:ext uri="{FF2B5EF4-FFF2-40B4-BE49-F238E27FC236}">
                <a16:creationId xmlns:a16="http://schemas.microsoft.com/office/drawing/2014/main" id="{F73C5439-21D4-46F3-9CF4-FF1CE786F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13630" y="0"/>
            <a:ext cx="625078" cy="963083"/>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2" name="Title 1">
            <a:extLst>
              <a:ext uri="{FF2B5EF4-FFF2-40B4-BE49-F238E27FC236}">
                <a16:creationId xmlns:a16="http://schemas.microsoft.com/office/drawing/2014/main" id="{148E301E-C79E-93C9-15FC-454129C2830D}"/>
              </a:ext>
            </a:extLst>
          </p:cNvPr>
          <p:cNvSpPr>
            <a:spLocks noGrp="1"/>
          </p:cNvSpPr>
          <p:nvPr>
            <p:ph type="title"/>
          </p:nvPr>
        </p:nvSpPr>
        <p:spPr>
          <a:xfrm>
            <a:off x="7639893" y="1537938"/>
            <a:ext cx="2881135" cy="611646"/>
          </a:xfrm>
        </p:spPr>
        <p:txBody>
          <a:bodyPr vert="horz" lIns="91440" tIns="45720" rIns="91440" bIns="45720" rtlCol="0" anchor="b">
            <a:noAutofit/>
          </a:bodyPr>
          <a:lstStyle/>
          <a:p>
            <a:pPr defTabSz="457200"/>
            <a:r>
              <a:rPr lang="en-US" sz="1600" dirty="0">
                <a:highlight>
                  <a:srgbClr val="0000FF"/>
                </a:highlight>
              </a:rPr>
              <a:t>OPTIMIZED STORE LOCATION RECOMMENDER</a:t>
            </a:r>
          </a:p>
        </p:txBody>
      </p:sp>
      <p:sp>
        <p:nvSpPr>
          <p:cNvPr id="3" name="Text Placeholder 2">
            <a:extLst>
              <a:ext uri="{FF2B5EF4-FFF2-40B4-BE49-F238E27FC236}">
                <a16:creationId xmlns:a16="http://schemas.microsoft.com/office/drawing/2014/main" id="{376E0392-978E-E11D-4A52-4EC9B1D6D5AA}"/>
              </a:ext>
            </a:extLst>
          </p:cNvPr>
          <p:cNvSpPr>
            <a:spLocks noGrp="1"/>
          </p:cNvSpPr>
          <p:nvPr>
            <p:ph type="body" idx="1"/>
          </p:nvPr>
        </p:nvSpPr>
        <p:spPr>
          <a:xfrm>
            <a:off x="7639893" y="2727434"/>
            <a:ext cx="2881135" cy="2508426"/>
          </a:xfrm>
        </p:spPr>
        <p:txBody>
          <a:bodyPr vert="horz" lIns="91440" tIns="45720" rIns="91440" bIns="45720" rtlCol="0" anchor="t">
            <a:normAutofit lnSpcReduction="10000"/>
          </a:bodyPr>
          <a:lstStyle/>
          <a:p>
            <a:pPr defTabSz="457200">
              <a:spcBef>
                <a:spcPts val="1000"/>
              </a:spcBef>
            </a:pPr>
            <a:r>
              <a:rPr lang="en-US" sz="1100" dirty="0">
                <a:solidFill>
                  <a:schemeClr val="bg1"/>
                </a:solidFill>
                <a:latin typeface="Aharoni" panose="02010803020104030203" pitchFamily="2" charset="-79"/>
                <a:cs typeface="Aharoni" panose="02010803020104030203" pitchFamily="2" charset="-79"/>
              </a:rPr>
              <a:t>The attached snippet showcases the store location recommender system, accessible via a web interface. It allows users to input coordinates for their preferred location and generates isochrones for that location, along with selected demographic data for the corresponding county. I would be happy to discuss how this system can benefit your business and explore the possibility of working together. I can provide further details as needed.</a:t>
            </a:r>
          </a:p>
        </p:txBody>
      </p:sp>
      <p:grpSp>
        <p:nvGrpSpPr>
          <p:cNvPr id="38" name="Group 37">
            <a:extLst>
              <a:ext uri="{FF2B5EF4-FFF2-40B4-BE49-F238E27FC236}">
                <a16:creationId xmlns:a16="http://schemas.microsoft.com/office/drawing/2014/main" id="{227140B8-92FC-43F0-8CCA-F40052CE50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85849" y="334371"/>
            <a:ext cx="7206596" cy="5105268"/>
            <a:chOff x="423332" y="396837"/>
            <a:chExt cx="7906665" cy="6058999"/>
          </a:xfrm>
        </p:grpSpPr>
        <p:sp>
          <p:nvSpPr>
            <p:cNvPr id="39" name="Rectangle 38">
              <a:extLst>
                <a:ext uri="{FF2B5EF4-FFF2-40B4-BE49-F238E27FC236}">
                  <a16:creationId xmlns:a16="http://schemas.microsoft.com/office/drawing/2014/main" id="{E14FEF32-7604-4713-A9F1-9D90A6F78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KE"/>
            </a:p>
          </p:txBody>
        </p:sp>
        <p:sp>
          <p:nvSpPr>
            <p:cNvPr id="40" name="Freeform 5">
              <a:extLst>
                <a:ext uri="{FF2B5EF4-FFF2-40B4-BE49-F238E27FC236}">
                  <a16:creationId xmlns:a16="http://schemas.microsoft.com/office/drawing/2014/main" id="{95AD3905-A7DD-4026-B7FD-C203CC305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KE"/>
            </a:p>
          </p:txBody>
        </p:sp>
        <p:sp>
          <p:nvSpPr>
            <p:cNvPr id="41" name="Freeform 5">
              <a:extLst>
                <a:ext uri="{FF2B5EF4-FFF2-40B4-BE49-F238E27FC236}">
                  <a16:creationId xmlns:a16="http://schemas.microsoft.com/office/drawing/2014/main" id="{467A9BDB-6572-473C-B2E5-C1AC2F7163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KE"/>
            </a:p>
          </p:txBody>
        </p:sp>
      </p:grpSp>
      <p:pic>
        <p:nvPicPr>
          <p:cNvPr id="9" name="Picture 8">
            <a:extLst>
              <a:ext uri="{FF2B5EF4-FFF2-40B4-BE49-F238E27FC236}">
                <a16:creationId xmlns:a16="http://schemas.microsoft.com/office/drawing/2014/main" id="{54C02071-EE21-C155-C7F7-BAE53E6728B3}"/>
              </a:ext>
            </a:extLst>
          </p:cNvPr>
          <p:cNvPicPr>
            <a:picLocks noChangeAspect="1"/>
          </p:cNvPicPr>
          <p:nvPr/>
        </p:nvPicPr>
        <p:blipFill>
          <a:blip r:embed="rId3"/>
          <a:stretch>
            <a:fillRect/>
          </a:stretch>
        </p:blipFill>
        <p:spPr>
          <a:xfrm>
            <a:off x="512970" y="1204556"/>
            <a:ext cx="6652430" cy="3742267"/>
          </a:xfrm>
          <a:prstGeom prst="rect">
            <a:avLst/>
          </a:prstGeom>
        </p:spPr>
      </p:pic>
    </p:spTree>
    <p:extLst>
      <p:ext uri="{BB962C8B-B14F-4D97-AF65-F5344CB8AC3E}">
        <p14:creationId xmlns:p14="http://schemas.microsoft.com/office/powerpoint/2010/main" val="26901426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Ion Boardroom</Template>
  <TotalTime>14369</TotalTime>
  <Words>1752</Words>
  <Application>Microsoft Office PowerPoint</Application>
  <PresentationFormat>Custom</PresentationFormat>
  <Paragraphs>66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Aharoni</vt:lpstr>
      <vt:lpstr>Arial</vt:lpstr>
      <vt:lpstr>Century Gothic</vt:lpstr>
      <vt:lpstr>Times New Roman</vt:lpstr>
      <vt:lpstr>Wingdings 3</vt:lpstr>
      <vt:lpstr>Ion Boardroom</vt:lpstr>
      <vt:lpstr>Problem Statement:</vt:lpstr>
      <vt:lpstr>Introduction</vt:lpstr>
      <vt:lpstr>questions to be answered</vt:lpstr>
      <vt:lpstr>TARGET AUDIENCE</vt:lpstr>
      <vt:lpstr>DATA</vt:lpstr>
      <vt:lpstr>METHODOLOGY</vt:lpstr>
      <vt:lpstr>distribution of stores for top 6 supermarket chains in Kenya. Most stores are concentrated in Nairobi and environs with moderate number of stores in the western part of the country and coast. The Northern and north-eastern parts of the country have no stores.</vt:lpstr>
      <vt:lpstr>Countrywide stores count for each supermarket chain. Naivas leading in the number of stores followed by Quickmart, Chandarana and Khetia’s. Cleanshelf has the least number of stores</vt:lpstr>
      <vt:lpstr>Nairobi county leads with the highest number of stores followed by Kiambu, Nakuru, Mombasa then Kisumu. Stores present in only 25 counties out of the 47 counties in Kenya</vt:lpstr>
      <vt:lpstr>All the top 6 supermarket chains are present in at least 5 counties in Kenya except for carrefour that is only present in 3 counties (Nairobi, Mombasa and Kisumu)</vt:lpstr>
      <vt:lpstr>Naivas, Quickmart, Chandarana and Carrefour are the only supermarket chains present in all Kenya’s 3 major cities (Nairobi, Mombasa &amp; Kisumu)</vt:lpstr>
      <vt:lpstr>Nairobi county tops in the number of stores for all chains except for Bungoma county where Khetia’s supermarket takes the lead in the number of stores. Khetia’s notably present in the western counties of Kenya in Bungoma, Busia, Kakamega, Kisumu, Kitale and Uasin Gishu counties with sparse presence in Nairobi, Mombasa and central Kenya</vt:lpstr>
      <vt:lpstr>Isochrone Analysis: isochrones are irregular circles or shaded areas around a location that show how far you can travel from a certain point in a specific amount of time. For example, an isochrone for 15 minutes on a map shows all the areas you can reach within 15 minutes of driving, walking, or using public transportation from that point. A larger isochrone means more people can reach the location quickly, making it more accessible. This helps to understand whether the location is convenient for customers. By layering isochrones from multiple stores on the map, you can see where stores overlap in terms of reach. If several stores' isochrones overlap in one area, it means that market is saturated—there are already plenty of options for customers, which may reduce the need for another store in that area. If your store's isochrone overlaps with that of a competitor, it shows you’re likely to be competing for the same customers. This can help you decide whether the area is too competitive or if there’s still enough customer demand to support your new store.</vt:lpstr>
      <vt:lpstr>Recommendation &amp; Conclusion</vt:lpstr>
      <vt:lpstr>PowerPoint Presentation</vt:lpstr>
      <vt:lpstr>Recommendation &amp; Conclusion based on Demographic Analysis</vt:lpstr>
      <vt:lpstr>OPTIMIZED STORE LOCATION RECOMMENDER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Edwin Okwaro (Contractor)</dc:creator>
  <cp:lastModifiedBy>Edwin Okwaro (Contractor)</cp:lastModifiedBy>
  <cp:revision>21</cp:revision>
  <dcterms:created xsi:type="dcterms:W3CDTF">2024-08-22T20:33:11Z</dcterms:created>
  <dcterms:modified xsi:type="dcterms:W3CDTF">2024-09-15T18:59:42Z</dcterms:modified>
</cp:coreProperties>
</file>